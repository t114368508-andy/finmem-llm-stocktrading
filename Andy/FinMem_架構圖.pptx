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020"/>
                </a:solidFill>
                <a:latin typeface="Microsoft JhengHei"/>
              </a:rPr>
              <a:t>FinMem 架構圖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502920"/>
            <a:ext cx="1170432" cy="105156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900" b="0">
                <a:solidFill>
                  <a:srgbClr val="202020"/>
                </a:solidFill>
                <a:latin typeface="Microsoft JhengHei"/>
              </a:rPr>
              <a:t>多來源市場資料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JhengHei"/>
              </a:rPr>
              <a:t>新聞/10-K/10-Q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JhengHei"/>
              </a:rPr>
              <a:t>每日股價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517904" y="882396"/>
            <a:ext cx="256032" cy="292608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1368" y="502920"/>
            <a:ext cx="11704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Profiling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角色設定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99232" y="882396"/>
            <a:ext cx="256032" cy="292608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82696" y="502920"/>
            <a:ext cx="1170432" cy="4800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850" b="1">
                <a:solidFill>
                  <a:srgbClr val="202020"/>
                </a:solidFill>
                <a:latin typeface="Microsoft JhengHei"/>
              </a:rPr>
              <a:t>Summarize</a:t>
            </a:r>
          </a:p>
          <a:p>
            <a:pPr algn="ctr"/>
            <a:r>
              <a:rPr sz="850" b="1">
                <a:solidFill>
                  <a:srgbClr val="202020"/>
                </a:solidFill>
                <a:latin typeface="Microsoft JhengHei"/>
              </a:rPr>
              <a:t>摘要+情緒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1074420"/>
            <a:ext cx="1170432" cy="4800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850" b="1">
                <a:solidFill>
                  <a:srgbClr val="202020"/>
                </a:solidFill>
                <a:latin typeface="Microsoft JhengHei"/>
              </a:rPr>
              <a:t>Observe</a:t>
            </a:r>
          </a:p>
          <a:p>
            <a:pPr algn="ctr"/>
            <a:r>
              <a:rPr sz="850" b="1">
                <a:solidFill>
                  <a:srgbClr val="202020"/>
                </a:solidFill>
                <a:latin typeface="Microsoft JhengHei"/>
              </a:rPr>
              <a:t>動能觀察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80560" y="882396"/>
            <a:ext cx="256032" cy="292608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64024" y="502920"/>
            <a:ext cx="11704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Layered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Memory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分層長期記憶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1888" y="882396"/>
            <a:ext cx="256032" cy="292608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5352" y="502920"/>
            <a:ext cx="11704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Retrieve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記憶檢索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43216" y="882396"/>
            <a:ext cx="256032" cy="292608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6680" y="502920"/>
            <a:ext cx="11704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Reflect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反思推理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24544" y="882396"/>
            <a:ext cx="256032" cy="292608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08008" y="502920"/>
            <a:ext cx="11704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Decision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-making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決策輸出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405872" y="882396"/>
            <a:ext cx="256032" cy="292608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89336" y="502920"/>
            <a:ext cx="1170432" cy="105156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900" b="0">
                <a:solidFill>
                  <a:srgbClr val="202020"/>
                </a:solidFill>
                <a:latin typeface="Microsoft JhengHei"/>
              </a:rPr>
              <a:t>交易決策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JhengHei"/>
              </a:rPr>
              <a:t>Buy/Sell/Hold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1874519"/>
          <a:ext cx="11539726" cy="4709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370"/>
                <a:gridCol w="3461918"/>
                <a:gridCol w="2307945"/>
                <a:gridCol w="2307945"/>
                <a:gridCol w="2192548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模組</a:t>
                      </a:r>
                    </a:p>
                  </a:txBody>
                  <a:tcPr marL="45000" marR="45000" marT="18000" marB="18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結構</a:t>
                      </a:r>
                    </a:p>
                  </a:txBody>
                  <a:tcPr marL="45000" marR="45000" marT="18000" marB="18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輸入</a:t>
                      </a:r>
                    </a:p>
                  </a:txBody>
                  <a:tcPr marL="45000" marR="45000" marT="18000" marB="18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輸出</a:t>
                      </a:r>
                    </a:p>
                  </a:txBody>
                  <a:tcPr marL="45000" marR="45000" marT="18000" marB="18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功能</a:t>
                      </a:r>
                    </a:p>
                  </a:txBody>
                  <a:tcPr marL="45000" marR="45000" marT="18000" marB="18000" anchor="ctr">
                    <a:solidFill>
                      <a:srgbClr val="2E3B4E"/>
                    </a:solidFill>
                  </a:tcPr>
                </a:tc>
              </a:tr>
              <a:tr h="62048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Microsoft JhengHei"/>
                        </a:rPr>
                        <a:t>Profiling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Microsoft JhengHei"/>
                        </a:rPr>
                        <a:t>Module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LLM(GPT-4/TGI)依 prompt 模板生成角色設定,分激進/保守/自適應三型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Ticker、歷史財務背景資料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角色人設文字(風險傾向)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決定交易風格傾向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Microsoft JhengHei"/>
                        </a:rPr>
                        <a:t>Summarize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guardrails 包裝 LLM 呼叫,搭配 TextTruncator 控制 token 上限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10-K/10-Q 報告全文、每日新聞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摘要文字＋情緒分數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把長文件壓成可用洞見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</a:tr>
              <a:tr h="62048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Microsoft JhengHei"/>
                        </a:rPr>
                        <a:t>Observe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規則式計算(非LLM),依 train/test 模式取價差或累積對數報酬率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每日收盤價序列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動能趨勢描述文字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捕捉價格慣性訊號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Microsoft JhengHei"/>
                        </a:rPr>
                        <a:t>Layered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Microsoft JhengHei"/>
                        </a:rPr>
                        <a:t>Memory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FAISS IndexFlatIP 向量索引＋SortedList,依重要性/新近度/存取次數分淺中深三層,ExponentialDecay 隨時間衰減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Summarize 產出的摘要事件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依分數排序儲存的三層記憶庫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模擬人類交易員的記憶結構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</a:tr>
              <a:tr h="62048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Microsoft JhengHei"/>
                        </a:rPr>
                        <a:t>Retrieve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text-embedding-ada-002 向量化查詢,FAISS 相似度搜尋＋LinearCompoundScore 加權排序取 Top-K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當前查詢情境(embedding 向量)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各層 Top-K 相關記憶(含ID)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找出當下最相關的歷史依據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Microsoft JhengHei"/>
                        </a:rPr>
                        <a:t>Reflect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guardrails(pydantic)包裝 LLM 輸出,依 train/test 模式產出結構化反思物件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各層 Top-K 記憶事件＋Observe 市場事實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結構化反思(引用 memory ID＋推理摘要)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把記憶轉成可解釋的推理鏈</a:t>
                      </a:r>
                    </a:p>
                  </a:txBody>
                  <a:tcPr marL="45000" marR="45000" marT="18000" marB="18000" anchor="ctr">
                    <a:solidFill>
                      <a:srgbClr val="F4F6F8"/>
                    </a:solidFill>
                  </a:tcPr>
                </a:tc>
              </a:tr>
              <a:tr h="62048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Microsoft JhengHei"/>
                        </a:rPr>
                        <a:t>Decision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Microsoft JhengHei"/>
                        </a:rPr>
                        <a:t>-making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整合角色人設、反思結果與持倉狀態,由 LLM 產出決策並更新 Portfolio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Reflect 推理結果＋角色人設＋目前持倉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Buy/Sell/Hold 決策,更新持倉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icrosoft JhengHei"/>
                        </a:rPr>
                        <a:t>產出最終下單決策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