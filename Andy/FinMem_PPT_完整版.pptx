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3898563" cy="95091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928" y="7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4DE051-268A-4C2D-85B4-6FC84FDD893A}" type="datetimeFigureOut">
              <a:rPr lang="zh-TW" altLang="en-US" smtClean="0"/>
              <a:t>2026/8/18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73163" y="1143000"/>
            <a:ext cx="4511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AE28B3-6C78-4CAF-9CED-E950F9A23C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736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AE28B3-6C78-4CAF-9CED-E950F9A23C0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035463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FinMem 架構圖與模組總覽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5488"/>
            <a:ext cx="1335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整體流程: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原始新聞與財報先在模擬開始前離線摘要好,交易當天則把摘要文字與即時股價一起送進系統,先分類成文字/股價兩路——文字存進分層長期記憶、股價直接算動能;檢索記憶時以一次性設定好的角色人設當查詢依據,找出最相關的記憶,再連同動能事實一起交給 LLM 反思,最後產出買進/賣出/持有的決策。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" y="1234440"/>
            <a:ext cx="1920240" cy="54864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00" b="1" dirty="0">
                <a:solidFill>
                  <a:srgbClr val="202020"/>
                </a:solidFill>
                <a:latin typeface="Microsoft JhengHei"/>
              </a:rPr>
              <a:t>Summarize </a:t>
            </a:r>
            <a:r>
              <a:rPr sz="900" b="1" dirty="0" err="1">
                <a:solidFill>
                  <a:srgbClr val="202020"/>
                </a:solidFill>
                <a:latin typeface="Microsoft JhengHei"/>
              </a:rPr>
              <a:t>摘要</a:t>
            </a:r>
            <a:endParaRPr sz="900" b="1" dirty="0">
              <a:solidFill>
                <a:srgbClr val="202020"/>
              </a:solidFill>
              <a:latin typeface="Microsoft JhengHei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002536" y="1783080"/>
            <a:ext cx="0" cy="365760"/>
          </a:xfrm>
          <a:prstGeom prst="line">
            <a:avLst/>
          </a:prstGeom>
          <a:ln w="19050">
            <a:solidFill>
              <a:srgbClr val="8080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3286" y="1071118"/>
            <a:ext cx="37785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dirty="0" err="1">
                <a:solidFill>
                  <a:srgbClr val="808080"/>
                </a:solidFill>
                <a:latin typeface="Microsoft JhengHei"/>
              </a:rPr>
              <a:t>模擬開始前先把原始新聞</a:t>
            </a:r>
            <a:r>
              <a:rPr sz="800" b="1" dirty="0">
                <a:solidFill>
                  <a:srgbClr val="808080"/>
                </a:solidFill>
                <a:latin typeface="Microsoft JhengHei"/>
              </a:rPr>
              <a:t>/</a:t>
            </a:r>
            <a:r>
              <a:rPr sz="800" b="1" dirty="0" err="1">
                <a:solidFill>
                  <a:srgbClr val="808080"/>
                </a:solidFill>
                <a:latin typeface="Microsoft JhengHei"/>
              </a:rPr>
              <a:t>財報壓縮成摘要</a:t>
            </a:r>
            <a:endParaRPr sz="800" b="1" dirty="0">
              <a:solidFill>
                <a:srgbClr val="808080"/>
              </a:solidFill>
              <a:latin typeface="Microsoft Jheng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80760" y="1234440"/>
            <a:ext cx="1828800" cy="54864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00" b="1" dirty="0">
                <a:solidFill>
                  <a:srgbClr val="2E6DA4"/>
                </a:solidFill>
                <a:latin typeface="Microsoft JhengHei"/>
              </a:rPr>
              <a:t>Profiling </a:t>
            </a:r>
            <a:r>
              <a:rPr sz="900" b="1" dirty="0" err="1">
                <a:solidFill>
                  <a:srgbClr val="2E6DA4"/>
                </a:solidFill>
                <a:latin typeface="Microsoft JhengHei"/>
              </a:rPr>
              <a:t>角色設定</a:t>
            </a:r>
            <a:endParaRPr sz="900" b="1" dirty="0">
              <a:solidFill>
                <a:srgbClr val="2E6DA4"/>
              </a:solidFill>
              <a:latin typeface="Microsoft JhengHe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995160" y="1783080"/>
            <a:ext cx="0" cy="365760"/>
          </a:xfrm>
          <a:prstGeom prst="line">
            <a:avLst/>
          </a:prstGeom>
          <a:ln w="19050">
            <a:solidFill>
              <a:srgbClr val="2E6DA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51780" y="1071118"/>
            <a:ext cx="32867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dirty="0" err="1">
                <a:solidFill>
                  <a:srgbClr val="2E6DA4"/>
                </a:solidFill>
                <a:latin typeface="Microsoft JhengHei"/>
              </a:rPr>
              <a:t>建立</a:t>
            </a:r>
            <a:r>
              <a:rPr sz="800" b="1" dirty="0">
                <a:solidFill>
                  <a:srgbClr val="2E6DA4"/>
                </a:solidFill>
                <a:latin typeface="Microsoft JhengHei"/>
              </a:rPr>
              <a:t> Agent </a:t>
            </a:r>
            <a:r>
              <a:rPr sz="800" b="1" dirty="0" err="1">
                <a:solidFill>
                  <a:srgbClr val="2E6DA4"/>
                </a:solidFill>
                <a:latin typeface="Microsoft JhengHei"/>
              </a:rPr>
              <a:t>時設定一次,當作檢索記憶的查詢依據</a:t>
            </a:r>
            <a:endParaRPr sz="800" b="1" dirty="0">
              <a:solidFill>
                <a:srgbClr val="2E6DA4"/>
              </a:solidFill>
              <a:latin typeface="Microsoft Jheng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33856" y="2148840"/>
            <a:ext cx="1737360" cy="161848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98648" y="2811780"/>
            <a:ext cx="237744" cy="292608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63824" y="2148840"/>
            <a:ext cx="123444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425696" y="331012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90872" y="214884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780" b="1">
                <a:solidFill>
                  <a:srgbClr val="202020"/>
                </a:solidFill>
                <a:latin typeface="Microsoft JhengHei"/>
              </a:rPr>
              <a:t>Layered Long-term Memory</a:t>
            </a:r>
          </a:p>
          <a:p>
            <a:pPr algn="ctr"/>
            <a:r>
              <a:rPr sz="780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35624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0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記憶檢索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7616952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690872" y="310896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35624" y="3310128"/>
            <a:ext cx="1719072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35624" y="3584448"/>
            <a:ext cx="1719072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dirty="0" err="1">
                <a:solidFill>
                  <a:srgbClr val="D98A3A"/>
                </a:solidFill>
                <a:latin typeface="Microsoft JhengHei"/>
              </a:rPr>
              <a:t>直接提供市場</a:t>
            </a:r>
            <a:r>
              <a:rPr lang="zh-TW" altLang="en-US" sz="750" b="1" dirty="0">
                <a:solidFill>
                  <a:srgbClr val="D98A3A"/>
                </a:solidFill>
                <a:latin typeface="Microsoft JhengHei"/>
              </a:rPr>
              <a:t>數據</a:t>
            </a:r>
            <a:endParaRPr sz="750" b="1" dirty="0">
              <a:solidFill>
                <a:srgbClr val="D98A3A"/>
              </a:solidFill>
              <a:latin typeface="Microsoft JhengHe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882128" y="2148840"/>
            <a:ext cx="137160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81160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546336" y="256946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lang="en-US" sz="950" b="1" dirty="0">
                <a:solidFill>
                  <a:srgbClr val="202020"/>
                </a:solidFill>
                <a:latin typeface="Microsoft JhengHei"/>
              </a:rPr>
              <a:t>Investment decisions and reflecting outcomes</a:t>
            </a:r>
            <a:endParaRPr lang="en-US" altLang="zh-TW" sz="950" b="1" dirty="0">
              <a:solidFill>
                <a:srgbClr val="202020"/>
              </a:solidFill>
              <a:latin typeface="Microsoft JhengHei"/>
            </a:endParaRPr>
          </a:p>
          <a:p>
            <a:pPr algn="ctr"/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投資決策及結果反映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26" name="Right Arrow 25"/>
          <p:cNvSpPr/>
          <p:nvPr/>
        </p:nvSpPr>
        <p:spPr>
          <a:xfrm>
            <a:off x="10945368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1210544" y="2569464"/>
            <a:ext cx="155448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交易決策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  <a:p>
            <a:pPr algn="ctr"/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買進</a:t>
            </a:r>
            <a:r>
              <a:rPr sz="950" b="1" dirty="0">
                <a:solidFill>
                  <a:srgbClr val="202020"/>
                </a:solidFill>
                <a:latin typeface="Microsoft JhengHei"/>
              </a:rPr>
              <a:t> / </a:t>
            </a:r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賣出</a:t>
            </a:r>
            <a:r>
              <a:rPr sz="950" b="1" dirty="0">
                <a:solidFill>
                  <a:srgbClr val="202020"/>
                </a:solidFill>
                <a:latin typeface="Microsoft JhengHei"/>
              </a:rPr>
              <a:t> / </a:t>
            </a:r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持有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986442"/>
              </p:ext>
            </p:extLst>
          </p:nvPr>
        </p:nvGraphicFramePr>
        <p:xfrm>
          <a:off x="1133856" y="4270248"/>
          <a:ext cx="11631164" cy="5209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21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9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99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  <a:endParaRPr sz="10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摘要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模擬開始前的腳本,呼叫 LLM 把原文壓成約 200 tokens 摘要;新聞另外還會被標上情緒分數(正負中立傾向)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原始新聞、10-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Q(</a:t>
                      </a:r>
                      <a:r>
                        <a:rPr lang="zh-TW" altLang="zh-TW" sz="800" dirty="0"/>
                        <a:t>季度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、10-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K(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年度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報告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壓縮後的摘要文字和標註情緒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先把冗長的文件濃縮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減少之後再存入記憶庫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建立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Agent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時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由設定檔裡的一段文字決定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Agent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的人設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如交易專長與風險傾向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模擬過程中不再改變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設定檔裡寫好的產業背景與人設字串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模擬過程使用的角色人設字串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且會做為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檢索記憶的查詢依據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決定檢索時撈出哪些記憶,間接影響反思與決策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分類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依資料型態呼叫三個處理函式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新聞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財報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壓縮後的摘要文字與即時股價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依型態分流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: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文字類送記憶層路徑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股價送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路徑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判斷資料是哪種型態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決定接下來走哪條路線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觀察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純計算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: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把最近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3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天每天的收盤價差加總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大於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0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記為漲、小於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0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記為跌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每日收盤價資料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動能趨勢的描述文字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漲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跌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持平三選一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捕捉價格的慣性訊號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不會經過記憶層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直接供給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Long-term Memory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分層長期記憶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4 個獨立記憶庫(淺/中/深/反思),每筆資料都會各自算重要性、新近度、綜合三種分數。重要性分數會依據實際損益給的回饋來做增減(賺加分、賠扣分),達分數門檻就在淺中深三層間升降(反思層不參與升降層);每筆資料的新近度與重要性分數只要任一過低,就會被直接清除;綜合分數(=新近度+重要性)會跟相似度一起,決定 Retrieve 要用哪些資料。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產出的摘要文字＋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產出的推理資料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資料會隨時間升降層或清除的分層記憶庫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模擬「常用且證實有效的資訊會記得久、沒用或誤導的會忘得快」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決定哪些資訊該長期保留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檢索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根據人設字串對四層各自獨立做向量相似度搜尋,各層取分數(相似度+綜合分數)最高的前三筆資料。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Profiling </a:t>
                      </a:r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設定的角色人設字串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、四層記憶庫的資料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四層各自獨立取「相似度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+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綜合分數」最高的前三筆資料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每一筆都有「編號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+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文字內容」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找出最相關的資料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供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反思推理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將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取出的資料跟市場動能組成提示詞送給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LLM,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並事先規定好回答格式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回答不符合規定則會重寫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直到正確格式的結果為止。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取出的資料＋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的市場動能趨勢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引用資料編號＋推理摘要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摘要會回寫進反思層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把記憶庫資料與市場觀察轉成一段可解釋的推理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 and reflecting outcomes</a:t>
                      </a:r>
                    </a:p>
                    <a:p>
                      <a:pPr algn="ctr"/>
                      <a:r>
                        <a:rPr lang="zh-TW" altLang="en-US" sz="900" b="1" dirty="0">
                          <a:solidFill>
                            <a:srgbClr val="20202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投資決策及結果反映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用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的結論產出決策結果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 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買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賣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持有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並回頭依照最近幾天的損益，替用到的那些資料加分或扣分，讓整個記憶庫的每筆資料完成當天的分數的增減、升降層變動。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的推理結果＋目前持倉＋近期損益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買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賣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持有 決策、更新後的持倉、記憶庫資料分數獎懲及分數變動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把推理轉成倉位動作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並用實際績效回頭校正資料的可信度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1010544" y="3386704"/>
            <a:ext cx="195448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>
                <a:solidFill>
                  <a:srgbClr val="C03030"/>
                </a:solidFill>
                <a:latin typeface="Microsoft JhengHei"/>
              </a:rPr>
              <a:t>僅模擬,未連接真實券商下單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程式碼:模組怎麼對應到實際檔案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倉庫分成兩塊: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puppy/ 是每天實際運行的 Agent 原始碼,data-pipeline/ 是模擬開始前的離線資料前處理腳本。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05840"/>
          <a:ext cx="13258799" cy="5029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1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 / 階段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這裡實際在做什麼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— LLMAgent.step() 開頭(官方註解 1~3)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依資料型態把股價、新聞、財報拆開:文字送進記憶路徑,股價送去 Observe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puppy/agent.py(character_string 屬性)＋ config/*.toml 的 character_string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Agent 一建立就把設定檔這段文字讀進來存成屬性,全程不變;只給 Retrieve 當查詢字串用,不會出現在 Reflect 的提示詞裡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data-pipeline/03-summary.py ＋ 03-model_wrapper.py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把整篇新聞/財報丟給 LLM,請它壓縮成約 200 tokens 的摘要,存回 CSV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清理／情緒標註(離線)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data-pipeline/02-Raw_News_Data_Cleaning.py ＋ 05-get_sentiment_by_ticker.py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02 先清掉重複報導、制式前綴等雜訊;05 用 VADER(規則詞典)或 FinBERT(金融專用模型)幫每則新聞標正負中立傾向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puppy/portfolio.py — get_moment(moment_window=3)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把最近 3 天每天的收盤價差加總,大於零記漲、小於零記跌,轉成一句英文敘述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Memory /</a:t>
                      </a:r>
                    </a:p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puppy/memorydb.py(MemoryDB、BrainDB)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MemoryDB 管理單一層的存取與分數;BrainDB 把淺/中/深/反思 4 個 MemoryDB 包在一起,對外統一查詢跟寫入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分數計算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puppy/memory_functions/(decay.py、importance_score.py、recency.py、compound_score.py、access_counter.py)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importance_score.py 決定新記憶誕生時的抽籤機率;decay.py 算每天的指數衰退;access_counter.py 算加減分;compound_score.py 把兩個分數合成排序用的分數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puppy/reflection.py ＋ puppy/chat.py(LLM 呼叫)＋ puppy/prompts.py(提示詞模板)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組合提示詞(記憶內容＋動能敘述),呼叫 LLM,guardrails 驗證回傳格式,LLM 自己決定引用了哪些記憶編號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
and reflecting outcomes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的 _construct_train_actions／__process_test_action／_portfolio_step／_update_access_counter ＋ puppy/portfolio.py 的 get_feedback_response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四個函式接力:先決定買賣方向 → 寫入持倉 → 依最近實際損益回饋剛引用的記憶 → 呼叫 brain.step() 讓記憶系統過完這一天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資料下載與打包(離線)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data-pipeline/01_*.py ～ 04-data_pipeline.py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01 系列分別向 SEC API、Alpaca News API 抓原始資料;04 再用 yfinance 補股價,全部合併打包成 env_data.pkl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893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00000"/>
                          </a:solidFill>
                          <a:latin typeface="Microsoft JhengHei"/>
                        </a:rPr>
                        <a:t>進入點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run.py — 建立 MarketEnvironment 與 LLMAgent,逐日呼叫 step()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Microsoft JhengHei"/>
                        </a:rPr>
                        <a:t>讀 config.toml,建立環境與 Agent;while 迴圈裡逐日拿資料、跑完整套模組,每天存一次檔避免 API 中斷要重跑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2636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範例:記憶的加分/扣分,其實來自實際損益,不是單純被引用就加分(portfolio.py)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583679"/>
            <a:ext cx="7589520" cy="1600200"/>
          </a:xfrm>
          <a:prstGeom prst="rect">
            <a:avLst/>
          </a:prstGeom>
          <a:solidFill>
            <a:srgbClr val="27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720840"/>
            <a:ext cx="7223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temp = cumsum((diff(price) * shares_held)[-lookback_window:])[-1]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if temp &gt; 0:  feedback = 1    # 這段期間實際有賺錢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elif temp &lt; 0: feedback = -1  # 這段期間實際賠錢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else:          feedback = 0</a:t>
            </a:r>
          </a:p>
          <a:p>
            <a:pPr algn="l">
              <a:lnSpc>
                <a:spcPct val="115000"/>
              </a:lnSpc>
            </a:pPr>
            <a:endParaRPr sz="950" b="0">
              <a:solidFill>
                <a:srgbClr val="D8DEE5"/>
              </a:solidFill>
              <a:latin typeface="Microsoft JhengHei"/>
            </a:endParaRP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# access_counter += feedback  (可能是負的!)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# importance_score += access_counter *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6583679"/>
            <a:ext cx="34747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回顧最近幾天(預設 7 天)投資組合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的實際損益,賺錢才加分、賠錢反而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扣分——不是「被引用就一定加分」,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是用事後的真實結果,回頭校正這些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記憶到底值不值得信任。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247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1124712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2311.13743(q-fin.CP)　　</a:t>
            </a:r>
            <a:r>
              <a:rPr sz="1000" b="1">
                <a:solidFill>
                  <a:srgbClr val="202020"/>
                </a:solidFill>
                <a:latin typeface="Microsoft JhengHei"/>
              </a:rPr>
              <a:t>GitHub: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941 stars、192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060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2926080"/>
          <a:ext cx="112471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434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54880"/>
            <a:ext cx="11247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勾勒 Agent 的特質(對應本簡報的 Profiling)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分層處理,協助 Agent 吸收具真實層級結構的財務資料(對應 Layered Memory＋Retrieve)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把記憶得到的洞見轉換成投資決策(對應 Reflect＋Investment decisions and reflecting outcomes)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30936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研究發現(論文摘要精簡)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629400"/>
            <a:ext cx="112471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官方以 TSLA(特斯拉)為展示標的,個股可經 config 檔案更換,整套流程分成「離線準備資料」跟「每日模擬交易」兩段。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030"/>
                </a:solidFill>
                <a:latin typeface="Microsoft JhengHei"/>
              </a:rPr>
              <a:t>這整套系統是研究用的回測框架,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從頭到尾沒有連接任何真實券商或交易所,「交易決策」只會更新內部模擬的持倉紀錄,不會真的下單。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01 下載原始資料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(新聞/10-K/10-Q)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69464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02 清理新聞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2583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818888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03 摘要＋情緒標註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22007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068312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04 打包成 pkl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(含股價)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71432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317736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05 加情緒分數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194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8080"/>
                </a:solidFill>
                <a:latin typeface="Microsoft JhengHei"/>
              </a:rPr>
              <a:t>↑ data-pipeline/ 離線資料前處理(模擬開始前跑一次)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651760"/>
            <a:ext cx="5440680" cy="86868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Train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讓 Agent 逐日累積記憶與經驗,不下真實交易單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651760"/>
            <a:ext cx="5440680" cy="86868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Test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用訓練好的 Agent 實際模擬交易,記錄逐日決策與績效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7947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實際輸出範例(TSLA,2023-01-24)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114800"/>
            <a:ext cx="11247120" cy="141732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233672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買進(Buy)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根據淺層與中層記憶訊息,分析師認為目前的低價是買進機會(記憶編號 3357、3404)。深層記憶顯示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6692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績效怎麼評估(data-pipeline/07-metrics.py、08-Wilcoxon-Test.py)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Sharpe Ratio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風險調整後報酬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Cumulative Return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累積報酬率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5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Max Drawdown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最大回撤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3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Annualized Volatility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年化波動度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1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Wilcoxon Test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跟對照策略比較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是否顯著較優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704088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實際跑起來的樣子: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官方附有示範影片 FinMem.mp4,展示 Agent 逐日讀取資料、檢索記憶、產出決策的完整過程;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06-Visualize-results.py 則會把累積報酬畫成圖,跟單純買進持有(buy-and-hold)策略比較。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1624</Words>
  <Application>Microsoft Office PowerPoint</Application>
  <PresentationFormat>自訂</PresentationFormat>
  <Paragraphs>185</Paragraphs>
  <Slides>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Microsoft JhengHei</vt:lpstr>
      <vt:lpstr>Microsoft JhengHei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鄭又瑄</cp:lastModifiedBy>
  <cp:revision>7</cp:revision>
  <dcterms:created xsi:type="dcterms:W3CDTF">2013-01-27T09:14:16Z</dcterms:created>
  <dcterms:modified xsi:type="dcterms:W3CDTF">2026-08-18T14:26:28Z</dcterms:modified>
  <cp:category/>
</cp:coreProperties>
</file>