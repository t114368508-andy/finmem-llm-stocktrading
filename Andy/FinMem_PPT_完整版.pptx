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3898563" cy="95091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-4648" y="-82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4DE051-268A-4C2D-85B4-6FC84FDD893A}" type="datetimeFigureOut">
              <a:rPr lang="zh-TW" altLang="en-US" smtClean="0"/>
              <a:t>2026/8/18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73163" y="1143000"/>
            <a:ext cx="4511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AE28B3-6C78-4CAF-9CED-E950F9A23C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3736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AE28B3-6C78-4CAF-9CED-E950F9A23C0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035463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FinMem 架構圖與模組總覽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5488"/>
            <a:ext cx="13350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整體流程: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原始新聞與財報先在模擬開始前離線摘要好,交易當天則把摘要文字與即時股價一起送進系統,先分類成文字/股價兩路——文字存進分層長期記憶、股價直接算動能;檢索記憶時以一次性設定好的角色人設當查詢依據,找出最相關的記憶,再連同動能事實一起交給 LLM 反思,最後產出買進/賣出/持有的決策。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" y="1234440"/>
            <a:ext cx="1920240" cy="548640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00" b="1" dirty="0">
                <a:solidFill>
                  <a:srgbClr val="202020"/>
                </a:solidFill>
                <a:latin typeface="Microsoft JhengHei"/>
              </a:rPr>
              <a:t>Summarize </a:t>
            </a:r>
            <a:r>
              <a:rPr sz="900" b="1" dirty="0" err="1">
                <a:solidFill>
                  <a:srgbClr val="202020"/>
                </a:solidFill>
                <a:latin typeface="Microsoft JhengHei"/>
              </a:rPr>
              <a:t>摘要</a:t>
            </a:r>
            <a:endParaRPr sz="900" b="1" dirty="0">
              <a:solidFill>
                <a:srgbClr val="202020"/>
              </a:solidFill>
              <a:latin typeface="Microsoft JhengHei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2002536" y="1783080"/>
            <a:ext cx="0" cy="365760"/>
          </a:xfrm>
          <a:prstGeom prst="line">
            <a:avLst/>
          </a:prstGeom>
          <a:ln w="19050">
            <a:solidFill>
              <a:srgbClr val="8080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3286" y="1071118"/>
            <a:ext cx="37785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dirty="0" err="1">
                <a:solidFill>
                  <a:srgbClr val="808080"/>
                </a:solidFill>
                <a:latin typeface="Microsoft JhengHei"/>
              </a:rPr>
              <a:t>模擬開始前先把原始新聞</a:t>
            </a:r>
            <a:r>
              <a:rPr sz="800" b="1" dirty="0">
                <a:solidFill>
                  <a:srgbClr val="808080"/>
                </a:solidFill>
                <a:latin typeface="Microsoft JhengHei"/>
              </a:rPr>
              <a:t>/</a:t>
            </a:r>
            <a:r>
              <a:rPr sz="800" b="1" dirty="0" err="1">
                <a:solidFill>
                  <a:srgbClr val="808080"/>
                </a:solidFill>
                <a:latin typeface="Microsoft JhengHei"/>
              </a:rPr>
              <a:t>財報壓縮成摘要</a:t>
            </a:r>
            <a:endParaRPr sz="800" b="1" dirty="0">
              <a:solidFill>
                <a:srgbClr val="808080"/>
              </a:solidFill>
              <a:latin typeface="Microsoft JhengHe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80760" y="1234440"/>
            <a:ext cx="1828800" cy="54864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00" b="1" dirty="0">
                <a:solidFill>
                  <a:srgbClr val="2E6DA4"/>
                </a:solidFill>
                <a:latin typeface="Microsoft JhengHei"/>
              </a:rPr>
              <a:t>Profiling </a:t>
            </a:r>
            <a:r>
              <a:rPr sz="900" b="1" dirty="0" err="1">
                <a:solidFill>
                  <a:srgbClr val="2E6DA4"/>
                </a:solidFill>
                <a:latin typeface="Microsoft JhengHei"/>
              </a:rPr>
              <a:t>角色設定</a:t>
            </a:r>
            <a:endParaRPr sz="900" b="1" dirty="0">
              <a:solidFill>
                <a:srgbClr val="2E6DA4"/>
              </a:solidFill>
              <a:latin typeface="Microsoft JhengHei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995160" y="1783080"/>
            <a:ext cx="0" cy="365760"/>
          </a:xfrm>
          <a:prstGeom prst="line">
            <a:avLst/>
          </a:prstGeom>
          <a:ln w="19050">
            <a:solidFill>
              <a:srgbClr val="2E6DA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351780" y="1071118"/>
            <a:ext cx="32867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dirty="0" err="1">
                <a:solidFill>
                  <a:srgbClr val="2E6DA4"/>
                </a:solidFill>
                <a:latin typeface="Microsoft JhengHei"/>
              </a:rPr>
              <a:t>建立</a:t>
            </a:r>
            <a:r>
              <a:rPr sz="800" b="1" dirty="0">
                <a:solidFill>
                  <a:srgbClr val="2E6DA4"/>
                </a:solidFill>
                <a:latin typeface="Microsoft JhengHei"/>
              </a:rPr>
              <a:t> Agent </a:t>
            </a:r>
            <a:r>
              <a:rPr sz="800" b="1" dirty="0" err="1">
                <a:solidFill>
                  <a:srgbClr val="2E6DA4"/>
                </a:solidFill>
                <a:latin typeface="Microsoft JhengHei"/>
              </a:rPr>
              <a:t>時設定一次,當作檢索記憶的查詢依據</a:t>
            </a:r>
            <a:endParaRPr sz="800" b="1" dirty="0">
              <a:solidFill>
                <a:srgbClr val="2E6DA4"/>
              </a:solidFill>
              <a:latin typeface="Microsoft Jheng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133856" y="2148840"/>
            <a:ext cx="1737360" cy="1618488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已摘要文字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＋即時股價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98648" y="2811780"/>
            <a:ext cx="237744" cy="292608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63824" y="2148840"/>
            <a:ext cx="123444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Sorting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分類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425696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4425696" y="331012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690872" y="214884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780" b="1">
                <a:solidFill>
                  <a:srgbClr val="202020"/>
                </a:solidFill>
                <a:latin typeface="Microsoft JhengHei"/>
              </a:rPr>
              <a:t>Layered Long-term Memory</a:t>
            </a:r>
          </a:p>
          <a:p>
            <a:pPr algn="ctr"/>
            <a:r>
              <a:rPr sz="780" b="1">
                <a:solidFill>
                  <a:srgbClr val="202020"/>
                </a:solidFill>
                <a:latin typeface="Microsoft JhengHei"/>
              </a:rPr>
              <a:t>分層長期記憶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135624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0" y="2148840"/>
            <a:ext cx="11887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50" b="1" dirty="0">
                <a:solidFill>
                  <a:srgbClr val="202020"/>
                </a:solidFill>
                <a:latin typeface="Microsoft JhengHei"/>
              </a:rPr>
              <a:t>Retrieve</a:t>
            </a:r>
          </a:p>
          <a:p>
            <a:pPr algn="ctr"/>
            <a:r>
              <a:rPr sz="950" b="1" dirty="0" err="1">
                <a:solidFill>
                  <a:srgbClr val="202020"/>
                </a:solidFill>
                <a:latin typeface="Microsoft JhengHei"/>
              </a:rPr>
              <a:t>記憶檢索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18" name="Right Arrow 17"/>
          <p:cNvSpPr/>
          <p:nvPr/>
        </p:nvSpPr>
        <p:spPr>
          <a:xfrm>
            <a:off x="7616952" y="235000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690872" y="3108960"/>
            <a:ext cx="14173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Observe</a:t>
            </a:r>
          </a:p>
          <a:p>
            <a:pPr algn="ctr"/>
            <a:r>
              <a:rPr sz="950" b="1">
                <a:solidFill>
                  <a:srgbClr val="202020"/>
                </a:solidFill>
                <a:latin typeface="Microsoft JhengHei"/>
              </a:rPr>
              <a:t>動能觀察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135624" y="3310128"/>
            <a:ext cx="1719072" cy="256032"/>
          </a:xfrm>
          <a:prstGeom prst="rightArrow">
            <a:avLst/>
          </a:prstGeom>
          <a:solidFill>
            <a:srgbClr val="D9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35624" y="3584448"/>
            <a:ext cx="1719072" cy="1154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dirty="0" err="1">
                <a:solidFill>
                  <a:srgbClr val="D98A3A"/>
                </a:solidFill>
                <a:latin typeface="Microsoft JhengHei"/>
              </a:rPr>
              <a:t>直接提供市場</a:t>
            </a:r>
            <a:r>
              <a:rPr lang="zh-TW" altLang="en-US" sz="750" b="1" dirty="0">
                <a:solidFill>
                  <a:srgbClr val="D98A3A"/>
                </a:solidFill>
                <a:latin typeface="Microsoft JhengHei"/>
              </a:rPr>
              <a:t>數據</a:t>
            </a:r>
            <a:endParaRPr sz="750" b="1" dirty="0">
              <a:solidFill>
                <a:srgbClr val="D98A3A"/>
              </a:solidFill>
              <a:latin typeface="Microsoft JhengHe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882128" y="2148840"/>
            <a:ext cx="1371600" cy="1618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Reflect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反思推理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81160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546336" y="2569464"/>
            <a:ext cx="13716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lang="en-US" sz="950" b="1" dirty="0">
                <a:solidFill>
                  <a:srgbClr val="202020"/>
                </a:solidFill>
                <a:latin typeface="Microsoft JhengHei"/>
              </a:rPr>
              <a:t>Investment decisions and reflecting outcomes</a:t>
            </a:r>
            <a:endParaRPr lang="en-US" altLang="zh-TW" sz="950" b="1" dirty="0">
              <a:solidFill>
                <a:srgbClr val="202020"/>
              </a:solidFill>
              <a:latin typeface="Microsoft JhengHei"/>
            </a:endParaRPr>
          </a:p>
          <a:p>
            <a:pPr algn="ctr"/>
            <a:r>
              <a:rPr lang="zh-TW" altLang="en-US" sz="950" b="1" dirty="0">
                <a:solidFill>
                  <a:srgbClr val="202020"/>
                </a:solidFill>
                <a:latin typeface="Microsoft JhengHei"/>
              </a:rPr>
              <a:t>投資決策及結果反映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sp>
        <p:nvSpPr>
          <p:cNvPr id="26" name="Right Arrow 25"/>
          <p:cNvSpPr/>
          <p:nvPr/>
        </p:nvSpPr>
        <p:spPr>
          <a:xfrm>
            <a:off x="10945368" y="2830068"/>
            <a:ext cx="237744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1210544" y="2569464"/>
            <a:ext cx="1554480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950" b="1" dirty="0" err="1">
                <a:solidFill>
                  <a:srgbClr val="202020"/>
                </a:solidFill>
                <a:latin typeface="Microsoft JhengHei"/>
              </a:rPr>
              <a:t>交易決策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  <a:p>
            <a:pPr algn="ctr"/>
            <a:r>
              <a:rPr lang="zh-TW" altLang="en-US" sz="950" b="1" dirty="0">
                <a:solidFill>
                  <a:srgbClr val="202020"/>
                </a:solidFill>
                <a:latin typeface="Microsoft JhengHei"/>
              </a:rPr>
              <a:t>買進</a:t>
            </a:r>
            <a:r>
              <a:rPr sz="950" b="1" dirty="0">
                <a:solidFill>
                  <a:srgbClr val="202020"/>
                </a:solidFill>
                <a:latin typeface="Microsoft JhengHei"/>
              </a:rPr>
              <a:t> / </a:t>
            </a:r>
            <a:r>
              <a:rPr lang="zh-TW" altLang="en-US" sz="950" b="1" dirty="0">
                <a:solidFill>
                  <a:srgbClr val="202020"/>
                </a:solidFill>
                <a:latin typeface="Microsoft JhengHei"/>
              </a:rPr>
              <a:t>賣出</a:t>
            </a:r>
            <a:r>
              <a:rPr sz="950" b="1" dirty="0">
                <a:solidFill>
                  <a:srgbClr val="202020"/>
                </a:solidFill>
                <a:latin typeface="Microsoft JhengHei"/>
              </a:rPr>
              <a:t> / </a:t>
            </a:r>
            <a:r>
              <a:rPr lang="zh-TW" altLang="en-US" sz="950" b="1" dirty="0">
                <a:solidFill>
                  <a:srgbClr val="202020"/>
                </a:solidFill>
                <a:latin typeface="Microsoft JhengHei"/>
              </a:rPr>
              <a:t>持有</a:t>
            </a:r>
            <a:endParaRPr sz="950" b="1" dirty="0">
              <a:solidFill>
                <a:srgbClr val="202020"/>
              </a:solidFill>
              <a:latin typeface="Microsoft JhengHei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8986442"/>
              </p:ext>
            </p:extLst>
          </p:nvPr>
        </p:nvGraphicFramePr>
        <p:xfrm>
          <a:off x="1133856" y="4270248"/>
          <a:ext cx="11631164" cy="5262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1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219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62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09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099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  <a:endParaRPr sz="10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結構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輸出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功能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Summarize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摘要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模擬開始前的腳本,呼叫 LLM 把原文壓成約 200 tokens 摘要;新聞另外還會被標上情緒分數(正負中立傾向)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原始新聞、10-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Q(</a:t>
                      </a:r>
                      <a:r>
                        <a:rPr lang="zh-TW" altLang="zh-TW" sz="800" dirty="0"/>
                        <a:t>季度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</a:t>
                      </a:r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、10-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K(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年度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</a:t>
                      </a:r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報告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壓縮後的摘要文字和標註情緒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先把冗長的文件濃縮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減少之後再存入記憶庫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Profiling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Module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建立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Agent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時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由設定檔裡的一段文字決定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Agent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的人設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如交易專長與風險傾向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模擬過程中不再改變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設定檔裡寫好的產業背景與人設字串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模擬過程使用的角色人設字串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且會做為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Retrieve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檢索記憶的查詢依據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0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決定檢索時撈出哪些記憶,間接影響反思與決策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Sorting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分類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依資料型態呼叫三個處理函式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新聞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財報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股價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Summarize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壓縮後的摘要文字與即時股價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依型態分流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: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文字類送記憶層路徑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股價送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Observe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路徑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判斷資料是哪種型態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文字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股價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決定接下來走哪條路線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Observe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觀察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純計算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: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把最近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3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天每天的收盤價差加總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大於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0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記為漲、小於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0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記為跌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每日收盤價資料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動能趨勢的描述文字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漲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跌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持平三選一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捕捉價格的慣性訊號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不會經過記憶層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直接供給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使用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Layered Long-term Memory</a:t>
                      </a:r>
                    </a:p>
                    <a:p>
                      <a:pPr algn="ctr"/>
                      <a:r>
                        <a:rPr sz="860" b="1">
                          <a:solidFill>
                            <a:srgbClr val="000000"/>
                          </a:solidFill>
                          <a:latin typeface="Microsoft JhengHei"/>
                        </a:rPr>
                        <a:t>分層長期記憶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4 個獨立記憶庫(淺/中/深/反思),每筆資料都會各自算重要性、新近度、綜合三種分數。重要性分數會依據實際損益給的回饋來做增減(賺加分、賠扣分),達分數門檻就在淺中深三層間升降(反思層不參與升降層);每筆資料的新近度與重要性分數只要任一過低,就會被直接清除;綜合分數(=新近度+重要性)會跟相似度一起,決定 Retrieve 要用哪些資料。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Summarize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產出的摘要文字＋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產出的推理資料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資料會隨時間升降層或清除的分層記憶庫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模擬「常用且證實有效的資訊會記得久、沒用或誤導的會忘得快」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決定哪些資訊該長期保留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檢索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根據人設字串對四層各自獨立做向量相似度搜尋,各層取分數(相似度+綜合分數)最高的前三筆資料。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Profiling </a:t>
                      </a:r>
                      <a:r>
                        <a:rPr sz="780" b="0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設定的角色人設字串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、四層記憶庫的資料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四層各自獨立取「相似度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+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綜合分數」最高的前三筆資料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每一筆都有「編號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+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文字內容」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找出最相關的資料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供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使用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sz="860" b="1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</a:t>
                      </a:r>
                    </a:p>
                    <a:p>
                      <a:pPr algn="ctr"/>
                      <a:r>
                        <a:rPr sz="860" b="1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反思推理</a:t>
                      </a:r>
                      <a:endParaRPr sz="860" b="1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將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Retrieve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取出的資料跟市場動能組成提示詞送給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LLM,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並事先規定好回答格式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回答不符合規定則會重寫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直到正確格式的結果為止。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Retrieve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取出的資料＋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Observe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的市場動能趨勢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引用資料編號＋推理摘要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摘要會回寫進反思層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把記憶庫資料與市場觀察轉成一段可解釋的推理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>
                          <a:solidFill>
                            <a:srgbClr val="202020"/>
                          </a:solidFill>
                          <a:latin typeface="Microsoft JhengHei"/>
                        </a:rPr>
                        <a:t>Investment decisions and reflecting outcomes</a:t>
                      </a:r>
                    </a:p>
                    <a:p>
                      <a:pPr algn="ctr"/>
                      <a:r>
                        <a:rPr lang="zh-TW" altLang="en-US" sz="900" b="1" dirty="0">
                          <a:solidFill>
                            <a:srgbClr val="20202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投資決策及結果反映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用 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的結論產出決策結果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 (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買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賣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持有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),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並回頭依照最近幾天的損益，替用到的那些資料加分或扣分，讓整個記憶庫的每筆資料完成當天的分數的增減、升降層變動。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Reflect </a:t>
                      </a:r>
                      <a:r>
                        <a:rPr sz="780" b="0" dirty="0" err="1">
                          <a:solidFill>
                            <a:srgbClr val="000000"/>
                          </a:solidFill>
                          <a:latin typeface="Microsoft JhengHei"/>
                        </a:rPr>
                        <a:t>的推理結果＋目前持倉＋近期損益</a:t>
                      </a:r>
                      <a:endParaRPr sz="780" b="0" dirty="0">
                        <a:solidFill>
                          <a:srgbClr val="00000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買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賣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/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持有 決策、更新後的持倉、記憶庫資料分數獎懲及分數變動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把推理轉成倉位動作</a:t>
                      </a:r>
                      <a:r>
                        <a:rPr lang="en-US" altLang="zh-TW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780" b="0" dirty="0">
                          <a:solidFill>
                            <a:srgbClr val="000000"/>
                          </a:solidFill>
                          <a:latin typeface="Microsoft JhengHei"/>
                        </a:rPr>
                        <a:t>並用實際績效回頭校正資料的可信度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1010544" y="3386704"/>
            <a:ext cx="1954480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C03030"/>
                </a:solidFill>
                <a:latin typeface="Microsoft JhengHei"/>
              </a:rPr>
              <a:t>僅模擬,未連接真實券商下單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37160"/>
            <a:ext cx="109728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zh-TW" altLang="en-US" sz="1700" b="1" dirty="0">
                <a:solidFill>
                  <a:srgbClr val="20202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各模組對應程式碼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dirty="0" err="1">
                <a:solidFill>
                  <a:srgbClr val="202020"/>
                </a:solidFill>
                <a:latin typeface="Microsoft JhengHei"/>
              </a:rPr>
              <a:t>分成兩塊:</a:t>
            </a:r>
            <a:r>
              <a:rPr sz="1050" b="0" dirty="0" err="1">
                <a:solidFill>
                  <a:srgbClr val="202020"/>
                </a:solidFill>
                <a:latin typeface="Microsoft JhengHei"/>
              </a:rPr>
              <a:t>puppy</a:t>
            </a:r>
            <a:r>
              <a:rPr sz="1050" b="0" dirty="0">
                <a:solidFill>
                  <a:srgbClr val="202020"/>
                </a:solidFill>
                <a:latin typeface="Microsoft JhengHei"/>
              </a:rPr>
              <a:t>/ </a:t>
            </a:r>
            <a:r>
              <a:rPr sz="1050" b="0" dirty="0" err="1">
                <a:solidFill>
                  <a:srgbClr val="202020"/>
                </a:solidFill>
                <a:latin typeface="Microsoft JhengHei"/>
              </a:rPr>
              <a:t>是每天運行的</a:t>
            </a:r>
            <a:r>
              <a:rPr sz="1050" b="0" dirty="0">
                <a:solidFill>
                  <a:srgbClr val="202020"/>
                </a:solidFill>
                <a:latin typeface="Microsoft JhengHei"/>
              </a:rPr>
              <a:t> Agent </a:t>
            </a:r>
            <a:r>
              <a:rPr sz="1050" b="0" dirty="0" err="1">
                <a:solidFill>
                  <a:srgbClr val="202020"/>
                </a:solidFill>
                <a:latin typeface="Microsoft JhengHei"/>
              </a:rPr>
              <a:t>原始碼,data</a:t>
            </a:r>
            <a:r>
              <a:rPr sz="1050" b="0" dirty="0">
                <a:solidFill>
                  <a:srgbClr val="202020"/>
                </a:solidFill>
                <a:latin typeface="Microsoft JhengHei"/>
              </a:rPr>
              <a:t>-pipeline/ </a:t>
            </a:r>
            <a:r>
              <a:rPr sz="1050" b="0" dirty="0" err="1">
                <a:solidFill>
                  <a:srgbClr val="202020"/>
                </a:solidFill>
                <a:latin typeface="Microsoft JhengHei"/>
              </a:rPr>
              <a:t>是模擬開始前的資料處理</a:t>
            </a:r>
            <a:r>
              <a:rPr sz="1050" b="0" dirty="0">
                <a:solidFill>
                  <a:srgbClr val="202020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793241"/>
              </p:ext>
            </p:extLst>
          </p:nvPr>
        </p:nvGraphicFramePr>
        <p:xfrm>
          <a:off x="320040" y="1005840"/>
          <a:ext cx="13258797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14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79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93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FFFFFF"/>
                          </a:solidFill>
                          <a:latin typeface="Microsoft JhengHei"/>
                        </a:rPr>
                        <a:t>對應檔案</a:t>
                      </a:r>
                      <a:endParaRPr sz="1000" b="1" dirty="0">
                        <a:solidFill>
                          <a:srgbClr val="FFFFFF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JhengHei"/>
                        </a:rPr>
                        <a:t>程式碼功能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Summarize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摘要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data-pipeline/03-summary.py ＋ 03-model_wrapper.py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呼叫 LLM,把一整篇新聞或財報的原文壓縮成約 200 tokens 的精簡摘要,存回 CSV,減少之後存進記憶庫與送進提示詞的負擔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Profiling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Module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puppy/agent.py(character_string 屬性)＋ config/*.toml 的 character_string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建立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Agent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的當下,把設定檔這段人設文字讀進來,存成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Agent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的固定屬性,整個模擬過程都不會再變動;用途是交給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Retrieve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當查詢向量的來源</a:t>
                      </a:r>
                      <a:endParaRPr sz="830" b="0" dirty="0">
                        <a:solidFill>
                          <a:srgbClr val="20202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Sorting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分類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puppy/agent.py — LLMAgent.step() 開頭(官方註解 1~3)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每天執行的第一步:讀進當天打包好的股價、新聞、財報,依型態各自呼叫對應的處理函式,文字類存進記憶庫、股價交給 Observe 計算動能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Observe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puppy/portfolio.py — get_moment(moment_window=3)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抓最近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3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天的收盤價,逐日相減後加總,結果大於零記為上漲、小於零記為下跌、等於零記為持平,轉換成一句敘述,供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Reflect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直接使用</a:t>
                      </a:r>
                      <a:endParaRPr sz="830" b="0" dirty="0">
                        <a:solidFill>
                          <a:srgbClr val="20202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Layered Long-term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Memory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分層長期記憶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puppy/memorydb.py(MemoryDB、BrainDB)＋ puppy/memory_functions/(decay.py、importance_score.py、compound_score.py、access_counter.py)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MemoryDB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負責單一層的資料存取與三種分數計算;BrainDB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把淺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/中/深/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反思四個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MemoryDB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包成一個整體,統一查詢與寫入;memory_functions</a:t>
                      </a:r>
                      <a:r>
                        <a:rPr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</a:t>
                      </a:r>
                      <a:r>
                        <a:rPr sz="830" b="0" dirty="0" err="1">
                          <a:solidFill>
                            <a:srgbClr val="202020"/>
                          </a:solidFill>
                          <a:latin typeface="Microsoft JhengHei"/>
                        </a:rPr>
                        <a:t>底下的檔案分別負責重要性分數的初始抽籤機率、每日的指數衰退、被引用後的加減分,以及合成排序用的綜合分數</a:t>
                      </a:r>
                      <a:endParaRPr sz="830" b="0" dirty="0">
                        <a:solidFill>
                          <a:srgbClr val="202020"/>
                        </a:solidFill>
                        <a:latin typeface="Microsoft JhengHei"/>
                      </a:endParaRP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Retrieve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檢索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puppy/memorydb.py — MemoryDB.query()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把 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Profiling 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設定的人設字串轉成查詢向量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對這一層裡的每一筆資料做相似度比對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再跟資料本身的綜合分數加總排名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取分數最高的前 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3 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筆回傳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Reflect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反思推理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puppy/reflection.py ＋ puppy/chat.py(LLM 呼叫)＋ puppy/prompts.py(提示詞模板)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把 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Retrieve 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撈出的資料內容跟 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Observe 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的動能敘述組成一段提示詞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呼叫 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LLM 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取得回應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並驗證回傳格式是否正確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;LLM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 會自行判斷這次要引用哪些記憶編號</a:t>
                      </a:r>
                      <a:r>
                        <a:rPr lang="en-US" altLang="zh-TW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,</a:t>
                      </a:r>
                      <a:r>
                        <a:rPr lang="zh-TW" altLang="en-US" sz="830" b="0" dirty="0">
                          <a:solidFill>
                            <a:srgbClr val="202020"/>
                          </a:solidFill>
                          <a:latin typeface="Microsoft JhengHei"/>
                        </a:rPr>
                        <a:t>數量不固定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Investment decisions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and reflecting outcomes</a:t>
                      </a:r>
                    </a:p>
                    <a:p>
                      <a:pPr algn="ctr"/>
                      <a:r>
                        <a:rPr sz="880" b="1">
                          <a:solidFill>
                            <a:srgbClr val="202020"/>
                          </a:solidFill>
                          <a:latin typeface="Microsoft JhengHei"/>
                        </a:rPr>
                        <a:t>投資決策及結果反映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puppy/agent.py 的 _construct_train_actions／__process_test_action／_portfolio_step／_update_access_counter ＋ puppy/portfolio.py 的 get_feedback_response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>
                          <a:solidFill>
                            <a:srgbClr val="202020"/>
                          </a:solidFill>
                          <a:latin typeface="Microsoft JhengHei"/>
                        </a:rPr>
                        <a:t>先依模式決定買賣方向(Test 模式看 LLM 的決策,Train 模式看隔日實際漲跌);接著把改動寫進持倉紀錄;再往回看最近幾天的實際損益,對這次引用過的記憶加分或扣分;最後呼叫 brain.step(),讓整個記憶庫完成當天的分數異動、清除與升降層檢查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37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論文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48640"/>
            <a:ext cx="112471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02020"/>
                </a:solidFill>
                <a:latin typeface="Microsoft JhengHei"/>
              </a:rPr>
              <a:t>FinMem: A Performance-Enhanced LLM Trading Agent with Layered Memory and Character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71600"/>
            <a:ext cx="11247120" cy="1051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C0C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作者(9 位):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Yangyang Yu、Haohang Li、Zhi Chen、Yuechen Jiang、Yang Li、Denghui Zhang、Rong Liu、Jordan W. Suchow、Khaldoun Khashanah</a:t>
            </a:r>
          </a:p>
          <a:p>
            <a:pPr algn="l">
              <a:lnSpc>
                <a:spcPct val="13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arXiv: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2311.13743(q-fin.CP)　　</a:t>
            </a:r>
            <a:r>
              <a:rPr sz="1000" b="1">
                <a:solidFill>
                  <a:srgbClr val="202020"/>
                </a:solidFill>
                <a:latin typeface="Microsoft JhengHei"/>
              </a:rPr>
              <a:t>GitHub: 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941 stars、192 forks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6060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發表與收錄紀錄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2926080"/>
          <a:ext cx="112471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場合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40000" marR="40000" marT="10000" marB="10000" anchor="ctr">
                    <a:solidFill>
                      <a:srgbClr val="2E3B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2024-01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AAAI Spring Symposium on Human-Like Learning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延伸摘要入選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2024-03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ICLR Workshop on LLM Agents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論文獲接受</a:t>
                      </a:r>
                    </a:p>
                  </a:txBody>
                  <a:tcPr marL="40000" marR="40000" marT="10000" marB="10000" anchor="ctr"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2024-06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IJCAI 2024 FinLLM Challenge — Task 3 Single Stock Trading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Microsoft JhengHei"/>
                        </a:rPr>
                        <a:t>參賽並完成挑戰(共 12 隊參與)</a:t>
                      </a:r>
                    </a:p>
                  </a:txBody>
                  <a:tcPr marL="40000" marR="40000" marT="10000" marB="10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4348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論文原文定義的三大核心模組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754880"/>
            <a:ext cx="11247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論文摘要裡明確把 FinMem 分成三個核心模組: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2E6DA4"/>
                </a:solidFill>
                <a:latin typeface="Microsoft JhengHei"/>
              </a:rPr>
              <a:t>Profiling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勾勒 Agent 的特質(對應本簡報的 Profiling)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B07020"/>
                </a:solidFill>
                <a:latin typeface="Microsoft JhengHei"/>
              </a:rPr>
              <a:t>Memory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分層處理,協助 Agent 吸收具真實層級結構的財務資料(對應 Layered Memory＋Retrieve)</a:t>
            </a:r>
          </a:p>
          <a:p>
            <a:pPr algn="l">
              <a:lnSpc>
                <a:spcPct val="135000"/>
              </a:lnSpc>
            </a:pPr>
            <a:r>
              <a:rPr sz="1000" b="1">
                <a:solidFill>
                  <a:srgbClr val="309040"/>
                </a:solidFill>
                <a:latin typeface="Microsoft JhengHei"/>
              </a:rPr>
              <a:t>Decision-making</a:t>
            </a:r>
            <a:r>
              <a:rPr sz="1000" b="0">
                <a:solidFill>
                  <a:srgbClr val="202020"/>
                </a:solidFill>
                <a:latin typeface="Microsoft JhengHei"/>
              </a:rPr>
              <a:t> — 把記憶得到的洞見轉換成投資決策(對應 Reflect＋Investment decisions and reflecting outcomes)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30936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研究發現(論文摘要精簡)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629400"/>
            <a:ext cx="112471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02020"/>
                </a:solidFill>
                <a:latin typeface="Microsoft JhengHei"/>
              </a:rPr>
              <a:t>在可擴充的真實股票與基金資料集上,FinMem 的交易績效領先其他演算法型 Agent;論文作者接著調整Agent 對記憶的「感知範圍」(要看多近或多遠的記憶),進一步提升績效。論文主張,FinMem 分層記憶的設計貼近人類交易員的認知結構,可解釋性高,且能保留超出人類記憶負荷的關鍵資訊。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37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02020"/>
                </a:solidFill>
                <a:latin typeface="Microsoft JhengHei"/>
              </a:rPr>
              <a:t>實際應用場景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30352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官方以 TSLA(特斯拉)為展示標的,個股可經 config 檔案更換,整套流程分成「離線準備資料」跟「每日模擬交易」兩段。</a:t>
            </a:r>
          </a:p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030"/>
                </a:solidFill>
                <a:latin typeface="Microsoft JhengHei"/>
              </a:rPr>
              <a:t>這整套系統是研究用的回測框架,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從頭到尾沒有連接任何真實券商或交易所,「交易決策」只會更新內部模擬的持倉紀錄,不會真的下單。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01 下載原始資料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(新聞/10-K/10-Q)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23160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69464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02 清理新聞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672583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818888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03 摘要＋情緒標註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922007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068312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04 打包成 pkl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(含股價)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171432" y="1581912"/>
            <a:ext cx="128015" cy="256032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317736" y="1325880"/>
            <a:ext cx="2084831" cy="777240"/>
          </a:xfrm>
          <a:prstGeom prst="roundRect">
            <a:avLst/>
          </a:prstGeom>
          <a:solidFill>
            <a:srgbClr val="EFEFE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05 加情緒分數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194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08080"/>
                </a:solidFill>
                <a:latin typeface="Microsoft JhengHei"/>
              </a:rPr>
              <a:t>↑ data-pipeline/ 離線資料前處理(模擬開始前跑一次)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651760"/>
            <a:ext cx="5440680" cy="868680"/>
          </a:xfrm>
          <a:prstGeom prst="roundRect">
            <a:avLst/>
          </a:prstGeom>
          <a:solidFill>
            <a:srgbClr val="DDE8F5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Train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讓 Agent 逐日累積記憶與經驗,不下真實交易單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2651760"/>
            <a:ext cx="5440680" cy="868680"/>
          </a:xfrm>
          <a:prstGeom prst="roundRect">
            <a:avLst/>
          </a:prstGeom>
          <a:solidFill>
            <a:srgbClr val="D9EAD9"/>
          </a:solidFill>
          <a:ln w="12700">
            <a:solidFill>
              <a:srgbClr val="409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Test 模式</a:t>
            </a:r>
          </a:p>
          <a:p>
            <a:pPr algn="ctr"/>
            <a:r>
              <a:rPr sz="1000" b="1">
                <a:solidFill>
                  <a:srgbClr val="202020"/>
                </a:solidFill>
                <a:latin typeface="Microsoft JhengHei"/>
              </a:rPr>
              <a:t>用訓練好的 Agent 實際模擬交易,記錄逐日決策與績效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7947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實際輸出範例(TSLA,2023-01-24)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114800"/>
            <a:ext cx="11247120" cy="1417320"/>
          </a:xfrm>
          <a:prstGeom prst="roundRect">
            <a:avLst/>
          </a:prstGeom>
          <a:solidFill>
            <a:srgbClr val="FBF0C8"/>
          </a:solidFill>
          <a:ln w="12700">
            <a:solidFill>
              <a:srgbClr val="C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233672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202020"/>
                </a:solidFill>
                <a:latin typeface="Microsoft JhengHei"/>
              </a:rPr>
              <a:t>交易決策: </a:t>
            </a:r>
            <a:r>
              <a:rPr sz="1000" b="1">
                <a:solidFill>
                  <a:srgbClr val="C03030"/>
                </a:solidFill>
                <a:latin typeface="Microsoft JhengHei"/>
              </a:rPr>
              <a:t>買進(Buy)</a:t>
            </a:r>
          </a:p>
          <a:p>
            <a:pPr algn="l">
              <a:lnSpc>
                <a:spcPct val="120000"/>
              </a:lnSpc>
            </a:pPr>
            <a:r>
              <a:rPr sz="950" b="1">
                <a:solidFill>
                  <a:srgbClr val="202020"/>
                </a:solidFill>
                <a:latin typeface="Microsoft JhengHei"/>
              </a:rPr>
              <a:t>理由: </a:t>
            </a:r>
            <a:r>
              <a:rPr sz="950" b="0">
                <a:solidFill>
                  <a:srgbClr val="202020"/>
                </a:solidFill>
                <a:latin typeface="Microsoft JhengHei"/>
              </a:rPr>
              <a:t>根據淺層與中層記憶訊息,分析師認為目前的低價是買進機會(記憶編號 3357、3404)。深層記憶顯示 Tesla 縮減產能是潛在風險(3417),但反思層資訊顯示過去 10 年財務表現穩健(1)。此外,投資人目前僅持有 1 股 TSLA,加碼買進未來可能有不錯的報酬。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56692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2020"/>
                </a:solidFill>
                <a:latin typeface="Microsoft JhengHei"/>
              </a:rPr>
              <a:t>績效怎麼評估(data-pipeline/07-metrics.py、08-Wilcoxon-Test.py)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Sharpe Ratio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風險調整後報酬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78608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Cumulative Return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累積報酬率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37175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Max Drawdown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最大回撤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95743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Annualized Volatility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年化波動度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54311" y="5989320"/>
            <a:ext cx="2212848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000" rIns="30000" rtlCol="0" anchor="ctr"/>
          <a:lstStyle/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Wilcoxon Test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跟對照策略比較</a:t>
            </a:r>
          </a:p>
          <a:p>
            <a:pPr algn="ctr"/>
            <a:r>
              <a:rPr sz="869" b="1">
                <a:solidFill>
                  <a:srgbClr val="202020"/>
                </a:solidFill>
                <a:latin typeface="Microsoft JhengHei"/>
              </a:rPr>
              <a:t>是否顯著較優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7040880"/>
            <a:ext cx="11247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202020"/>
                </a:solidFill>
                <a:latin typeface="Microsoft JhengHei"/>
              </a:rPr>
              <a:t>實際跑起來的樣子: </a:t>
            </a:r>
            <a:r>
              <a:rPr sz="1050" b="0">
                <a:solidFill>
                  <a:srgbClr val="202020"/>
                </a:solidFill>
                <a:latin typeface="Microsoft JhengHei"/>
              </a:rPr>
              <a:t>官方附有示範影片 FinMem.mp4,展示 Agent 逐日讀取資料、檢索記憶、產出決策的完整過程;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202020"/>
                </a:solidFill>
                <a:latin typeface="Microsoft JhengHei"/>
              </a:rPr>
              <a:t>06-Visualize-results.py 則會把累積報酬畫成圖,跟單純買進持有(buy-and-hold)策略比較。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1468</Words>
  <Application>Microsoft Office PowerPoint</Application>
  <PresentationFormat>自訂</PresentationFormat>
  <Paragraphs>173</Paragraphs>
  <Slides>4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Microsoft JhengHei</vt:lpstr>
      <vt:lpstr>Microsoft JhengHei</vt:lpstr>
      <vt:lpstr>Aptos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鄭又瑄</cp:lastModifiedBy>
  <cp:revision>11</cp:revision>
  <dcterms:created xsi:type="dcterms:W3CDTF">2013-01-27T09:14:16Z</dcterms:created>
  <dcterms:modified xsi:type="dcterms:W3CDTF">2026-08-18T15:55:21Z</dcterms:modified>
  <cp:category/>
</cp:coreProperties>
</file>