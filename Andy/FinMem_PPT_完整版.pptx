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0" r:id="rId2"/>
    <p:sldId id="256" r:id="rId3"/>
    <p:sldId id="257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9023" autoAdjust="0"/>
  </p:normalViewPr>
  <p:slideViewPr>
    <p:cSldViewPr snapToGrid="0" snapToObjects="1">
      <p:cViewPr varScale="1">
        <p:scale>
          <a:sx n="77" d="100"/>
          <a:sy n="77" d="100"/>
        </p:scale>
        <p:origin x="244" y="5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4DE051-268A-4C2D-85B4-6FC84FDD893A}" type="datetimeFigureOut">
              <a:rPr lang="zh-TW" altLang="en-US" smtClean="0"/>
              <a:pPr/>
              <a:t>2026/8/19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73163" y="1143000"/>
            <a:ext cx="4511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AE28B3-6C78-4CAF-9CED-E950F9A23C0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3736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AE28B3-6C78-4CAF-9CED-E950F9A23C0F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0354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E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553376"/>
            <a:ext cx="11460480" cy="875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dirty="0" err="1">
                <a:solidFill>
                  <a:srgbClr val="FFFFFF"/>
                </a:solidFill>
                <a:latin typeface="Microsoft JhengHei"/>
              </a:rPr>
              <a:t>FinMem</a:t>
            </a:r>
            <a:r>
              <a:rPr lang="zh-TW" altLang="en-US" sz="5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框架</a:t>
            </a:r>
            <a:endParaRPr sz="54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900000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dirty="0">
                <a:solidFill>
                  <a:srgbClr val="202020"/>
                </a:solidFill>
                <a:latin typeface="Microsoft JhengHei"/>
              </a:rPr>
              <a:t>FinMem 架構圖與模組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340000"/>
            <a:ext cx="118262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zh-TW" altLang="en-US" sz="1100" b="1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整體流程</a:t>
            </a:r>
            <a:r>
              <a:rPr lang="en-US" altLang="zh-TW" sz="1100" b="1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: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原始新聞與財報先在模擬開始前離線摘要好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,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接著把摘要文字與即時股價一起送進系統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,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先分類成文字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/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股價兩路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——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文字存進分層長期記憶、股價直接算動能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;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檢索記憶時以設定好的角色人設當查詢依據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,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找出最相關的記憶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,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再連同動能趨勢一起交給 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LLM 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反思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,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最後產出買進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/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賣出</a:t>
            </a:r>
            <a:r>
              <a:rPr lang="en-US" altLang="zh-TW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/</a:t>
            </a:r>
            <a:r>
              <a:rPr lang="zh-TW" altLang="en-US" sz="110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持有的決策。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890000"/>
            <a:ext cx="1460000" cy="58000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多來源市場資料</a:t>
            </a:r>
          </a:p>
          <a:p>
            <a:pPr algn="ctr"/>
            <a:r>
              <a:rPr sz="750" b="0">
                <a:solidFill>
                  <a:srgbClr val="202020"/>
                </a:solidFill>
                <a:latin typeface="Microsoft JhengHei"/>
              </a:rPr>
              <a:t>新聞 / 10-K / 10-Q</a:t>
            </a:r>
          </a:p>
          <a:p>
            <a:pPr algn="ctr"/>
            <a:r>
              <a:rPr sz="750" b="0">
                <a:solidFill>
                  <a:srgbClr val="202020"/>
                </a:solidFill>
                <a:latin typeface="Microsoft JhengHei"/>
              </a:rPr>
              <a:t>每日股價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2880" y="768000"/>
            <a:ext cx="1190000" cy="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dirty="0">
                <a:solidFill>
                  <a:srgbClr val="808080"/>
                </a:solidFill>
                <a:latin typeface="Microsoft JhengHei"/>
              </a:rPr>
              <a:t>開始前執行一次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2880" y="890000"/>
            <a:ext cx="1010000" cy="58000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900" b="1" dirty="0">
                <a:solidFill>
                  <a:srgbClr val="202020"/>
                </a:solidFill>
                <a:latin typeface="Microsoft JhengHei"/>
              </a:rPr>
              <a:t>Summarize</a:t>
            </a:r>
          </a:p>
          <a:p>
            <a:pPr algn="ctr"/>
            <a:r>
              <a:rPr sz="900" b="1" dirty="0" err="1">
                <a:solidFill>
                  <a:srgbClr val="202020"/>
                </a:solidFill>
                <a:latin typeface="Microsoft JhengHei"/>
              </a:rPr>
              <a:t>摘要</a:t>
            </a:r>
            <a:endParaRPr sz="90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972880" y="890000"/>
            <a:ext cx="1122000" cy="58000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866" b="1">
                <a:solidFill>
                  <a:srgbClr val="202020"/>
                </a:solidFill>
                <a:latin typeface="Microsoft JhengHei"/>
              </a:rPr>
              <a:t>已摘要文字</a:t>
            </a:r>
          </a:p>
          <a:p>
            <a:pPr algn="ctr"/>
            <a:r>
              <a:rPr sz="866" b="1">
                <a:solidFill>
                  <a:srgbClr val="202020"/>
                </a:solidFill>
                <a:latin typeface="Microsoft JhengHei"/>
              </a:rPr>
              <a:t>＋即時股價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4880" y="890000"/>
            <a:ext cx="840000" cy="13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950" b="1" dirty="0">
                <a:solidFill>
                  <a:srgbClr val="202020"/>
                </a:solidFill>
                <a:latin typeface="Microsoft JhengHei"/>
              </a:rPr>
              <a:t>Sorting</a:t>
            </a:r>
          </a:p>
          <a:p>
            <a:pPr algn="ctr"/>
            <a:r>
              <a:rPr sz="950" b="1" dirty="0" err="1">
                <a:solidFill>
                  <a:srgbClr val="202020"/>
                </a:solidFill>
                <a:latin typeface="Microsoft JhengHei"/>
              </a:rPr>
              <a:t>分類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254880" y="890000"/>
            <a:ext cx="1460000" cy="5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800" b="1" dirty="0">
                <a:solidFill>
                  <a:srgbClr val="202020"/>
                </a:solidFill>
                <a:latin typeface="Microsoft JhengHei"/>
              </a:rPr>
              <a:t>Layered Long-term Memory</a:t>
            </a:r>
          </a:p>
          <a:p>
            <a:pPr algn="ctr"/>
            <a:r>
              <a:rPr sz="800" b="1" dirty="0" err="1">
                <a:solidFill>
                  <a:srgbClr val="202020"/>
                </a:solidFill>
                <a:latin typeface="Microsoft JhengHei"/>
              </a:rPr>
              <a:t>分層長期記憶</a:t>
            </a:r>
            <a:endParaRPr sz="80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74880" y="890000"/>
            <a:ext cx="840000" cy="5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950" b="1" dirty="0">
                <a:solidFill>
                  <a:srgbClr val="202020"/>
                </a:solidFill>
                <a:latin typeface="Microsoft JhengHei"/>
              </a:rPr>
              <a:t>Retrieve</a:t>
            </a:r>
          </a:p>
          <a:p>
            <a:pPr algn="ctr"/>
            <a:r>
              <a:rPr sz="950" b="1" dirty="0" err="1">
                <a:solidFill>
                  <a:srgbClr val="202020"/>
                </a:solidFill>
                <a:latin typeface="Microsoft JhengHei"/>
              </a:rPr>
              <a:t>記憶檢索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874880" y="890000"/>
            <a:ext cx="900000" cy="13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950" b="1" dirty="0">
                <a:solidFill>
                  <a:srgbClr val="202020"/>
                </a:solidFill>
                <a:latin typeface="Microsoft JhengHei"/>
              </a:rPr>
              <a:t>Reflect</a:t>
            </a:r>
          </a:p>
          <a:p>
            <a:pPr algn="ctr"/>
            <a:r>
              <a:rPr sz="950" b="1" dirty="0" err="1">
                <a:solidFill>
                  <a:srgbClr val="202020"/>
                </a:solidFill>
                <a:latin typeface="Microsoft JhengHei"/>
              </a:rPr>
              <a:t>反思推理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934880" y="890000"/>
            <a:ext cx="1800000" cy="5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800" b="1" dirty="0">
                <a:solidFill>
                  <a:srgbClr val="202020"/>
                </a:solidFill>
                <a:latin typeface="Microsoft JhengHei"/>
              </a:rPr>
              <a:t>Investment decisions and reflecting outcomes</a:t>
            </a:r>
          </a:p>
          <a:p>
            <a:pPr algn="ctr"/>
            <a:r>
              <a:rPr sz="800" b="1" dirty="0" err="1">
                <a:solidFill>
                  <a:srgbClr val="202020"/>
                </a:solidFill>
                <a:latin typeface="Microsoft JhengHei"/>
              </a:rPr>
              <a:t>投資決策及結果反映</a:t>
            </a:r>
            <a:endParaRPr sz="80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94880" y="890000"/>
            <a:ext cx="1122000" cy="58000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交易決策</a:t>
            </a:r>
          </a:p>
          <a:p>
            <a:pPr algn="ctr"/>
            <a:r>
              <a:rPr sz="866" b="1">
                <a:solidFill>
                  <a:srgbClr val="202020"/>
                </a:solidFill>
                <a:latin typeface="Microsoft JhengHei"/>
              </a:rPr>
              <a:t>買進 / 賣出 / 持有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657880" y="108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2827880" y="108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ight Arrow 15"/>
          <p:cNvSpPr/>
          <p:nvPr/>
        </p:nvSpPr>
        <p:spPr>
          <a:xfrm>
            <a:off x="4109880" y="108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5109880" y="108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6729880" y="108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7729880" y="108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ight Arrow 19"/>
          <p:cNvSpPr/>
          <p:nvPr/>
        </p:nvSpPr>
        <p:spPr>
          <a:xfrm>
            <a:off x="8789880" y="108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ight Arrow 20"/>
          <p:cNvSpPr/>
          <p:nvPr/>
        </p:nvSpPr>
        <p:spPr>
          <a:xfrm>
            <a:off x="10749880" y="108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54880" y="1650000"/>
            <a:ext cx="1460000" cy="5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950" b="1" dirty="0">
                <a:solidFill>
                  <a:srgbClr val="202020"/>
                </a:solidFill>
                <a:latin typeface="Microsoft JhengHei"/>
              </a:rPr>
              <a:t>Observe</a:t>
            </a:r>
          </a:p>
          <a:p>
            <a:pPr algn="ctr"/>
            <a:r>
              <a:rPr sz="950" b="1" dirty="0" err="1">
                <a:solidFill>
                  <a:srgbClr val="202020"/>
                </a:solidFill>
                <a:latin typeface="Microsoft JhengHei"/>
              </a:rPr>
              <a:t>動能觀察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23" name="Right Arrow 22"/>
          <p:cNvSpPr/>
          <p:nvPr/>
        </p:nvSpPr>
        <p:spPr>
          <a:xfrm>
            <a:off x="5109880" y="1845000"/>
            <a:ext cx="130000" cy="190000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Arrow 23"/>
          <p:cNvSpPr/>
          <p:nvPr/>
        </p:nvSpPr>
        <p:spPr>
          <a:xfrm>
            <a:off x="6729880" y="1665000"/>
            <a:ext cx="1130000" cy="130000"/>
          </a:xfrm>
          <a:prstGeom prst="rightArrow">
            <a:avLst/>
          </a:prstGeom>
          <a:solidFill>
            <a:srgbClr val="D9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874880" y="1820000"/>
            <a:ext cx="840000" cy="41000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tIns="20000" rIns="30000" bIns="20000" rtlCol="0" anchor="ctr"/>
          <a:lstStyle/>
          <a:p>
            <a:pPr algn="ctr"/>
            <a:r>
              <a:rPr sz="800" b="1" dirty="0">
                <a:solidFill>
                  <a:srgbClr val="2E6DA4"/>
                </a:solidFill>
                <a:latin typeface="Microsoft JhengHei"/>
              </a:rPr>
              <a:t>Profiling</a:t>
            </a:r>
          </a:p>
          <a:p>
            <a:pPr algn="ctr"/>
            <a:r>
              <a:rPr sz="800" b="1" dirty="0" err="1">
                <a:solidFill>
                  <a:srgbClr val="2E6DA4"/>
                </a:solidFill>
                <a:latin typeface="Microsoft JhengHei"/>
              </a:rPr>
              <a:t>角色設定</a:t>
            </a:r>
            <a:endParaRPr sz="800" b="1" dirty="0">
              <a:solidFill>
                <a:srgbClr val="2E6DA4"/>
              </a:solidFill>
              <a:latin typeface="Microsoft JhengHei"/>
            </a:endParaRPr>
          </a:p>
        </p:txBody>
      </p:sp>
      <p:sp>
        <p:nvSpPr>
          <p:cNvPr id="26" name="Up Arrow 25"/>
          <p:cNvSpPr/>
          <p:nvPr/>
        </p:nvSpPr>
        <p:spPr>
          <a:xfrm>
            <a:off x="7204880" y="1482000"/>
            <a:ext cx="180000" cy="326000"/>
          </a:xfrm>
          <a:prstGeom prst="upArrow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94720" y="2230001"/>
            <a:ext cx="1215720" cy="100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dirty="0">
                <a:solidFill>
                  <a:srgbClr val="808080"/>
                </a:solidFill>
                <a:latin typeface="Microsoft JhengHei"/>
              </a:rPr>
              <a:t>建立 Agent 時設定一次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1120" y="1482000"/>
            <a:ext cx="1118440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dirty="0">
                <a:solidFill>
                  <a:srgbClr val="C03030"/>
                </a:solidFill>
                <a:latin typeface="Microsoft JhengHei"/>
              </a:rPr>
              <a:t>僅模擬,未連接真實券商下單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208302"/>
              </p:ext>
            </p:extLst>
          </p:nvPr>
        </p:nvGraphicFramePr>
        <p:xfrm>
          <a:off x="182880" y="2320000"/>
          <a:ext cx="11826240" cy="44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26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 marL="30000" marR="30000" marT="5000" marB="5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結構</a:t>
                      </a:r>
                    </a:p>
                  </a:txBody>
                  <a:tcPr marL="30000" marR="30000" marT="5000" marB="5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marL="30000" marR="30000" marT="5000" marB="5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marL="30000" marR="30000" marT="5000" marB="5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 marL="30000" marR="30000" marT="5000" marB="5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85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Summarize</a:t>
                      </a:r>
                    </a:p>
                    <a:p>
                      <a:r>
                        <a:rPr sz="850" b="1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摘要</a:t>
                      </a:r>
                      <a:endParaRPr sz="850" b="1" dirty="0">
                        <a:solidFill>
                          <a:srgbClr val="202020"/>
                        </a:solidFill>
                        <a:latin typeface="Microsoft JhengHei"/>
                      </a:endParaRP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模擬開始前的腳本,呼叫 LLM 把原文壓成約 200 tokens 摘要;新聞另外還會被標上情緒分數(正負中立傾向)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原始新聞、10-Q(季度)、10-K(年度) 報告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壓縮後的摘要文字和標註情緒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先把冗長的文件濃縮,減少之後再存入記憶庫</a:t>
                      </a:r>
                    </a:p>
                  </a:txBody>
                  <a:tcPr marL="25000" marR="25000" marT="2000" marB="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85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Profiling</a:t>
                      </a:r>
                      <a:r>
                        <a:rPr lang="zh-TW" altLang="en-US" sz="85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85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Module</a:t>
                      </a:r>
                      <a:endParaRPr lang="en-US" sz="850" b="1" dirty="0">
                        <a:solidFill>
                          <a:srgbClr val="202020"/>
                        </a:solidFill>
                        <a:latin typeface="Microsoft JhengHei"/>
                      </a:endParaRPr>
                    </a:p>
                    <a:p>
                      <a:r>
                        <a:rPr lang="zh-TW" altLang="en-US" sz="850" b="1" dirty="0">
                          <a:solidFill>
                            <a:srgbClr val="20202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角色設定</a:t>
                      </a:r>
                      <a:endParaRPr sz="850" b="1" dirty="0">
                        <a:solidFill>
                          <a:srgbClr val="20202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建立 Agent 時,由設定檔裡的一段文字決定 Agent 的人設,如交易專長與風險傾向,模擬過程中不再改變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設定檔裡寫好的產業背景與人設字串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模擬過程使用的角色人設字串,且會做為 Retrieve 檢索記憶的查詢依據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決定檢索時撈出哪些記憶,間接影響反思與決策</a:t>
                      </a:r>
                    </a:p>
                  </a:txBody>
                  <a:tcPr marL="25000" marR="25000" marT="2000" marB="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Sorting</a:t>
                      </a:r>
                    </a:p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分類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依資料型態呼叫三個處理函式(新聞/財報/股價)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Summarize壓縮後的摘要文字與即時股價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依型態分流:文字類送記憶層路徑,股價送 Observe 路徑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判斷資料是哪種型態(文字/股價),決定接下來走哪條路線</a:t>
                      </a:r>
                    </a:p>
                  </a:txBody>
                  <a:tcPr marL="25000" marR="25000" marT="2000" marB="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Observe</a:t>
                      </a:r>
                    </a:p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純計算:把最近 3 天每天的收盤價差加總,大於0記為漲、小於0記為跌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每日收盤價資料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動能趨勢的描述文字(漲/跌/持平三選一)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捕捉價格的慣性訊號,不會經過記憶層,直接供給 Reflect 使用</a:t>
                      </a:r>
                    </a:p>
                  </a:txBody>
                  <a:tcPr marL="25000" marR="25000" marT="2000" marB="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Layered Long-term Memory</a:t>
                      </a:r>
                    </a:p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分層長期記憶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4 個獨立記憶庫(淺/中/深/反思),每筆資料都會各自算重要性、新近度、綜合三種分數。重要性分數會依據實際損益給的回饋來做增減(賺加分、賠扣分),達分數門檻就在淺中深三層間升降(反思層不參與升降層);每筆資料的新近度與重要性分數只要任一過低,就會被直接清除;綜合分數(=新近度+重要性)會跟相似度一起,決定 Retrieve 要用哪些資料。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Summarize 產出的摘要文字＋Reflect 產出的推理資料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資料會隨時間升降層或清除的分層記憶庫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模擬「常用且證實有效的資訊會記得久、沒用或誤導的會忘得快」,決定哪些資訊該長期保留</a:t>
                      </a:r>
                    </a:p>
                  </a:txBody>
                  <a:tcPr marL="25000" marR="25000" marT="2000" marB="2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Retrieve</a:t>
                      </a:r>
                    </a:p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檢索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根據人設字串對四層各自獨立做向量相似度搜尋,各層取分數(相似度+綜合分數)最高的前三筆資料。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Profiling 設定的角色人設字串、四層記憶庫的資料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四層各自獨立取「相似度+綜合分數」最高的前三筆資料,每一筆都有「編號+文字內容」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找出最相關的資料,供 Reflect 使用</a:t>
                      </a:r>
                    </a:p>
                  </a:txBody>
                  <a:tcPr marL="25000" marR="25000" marT="2000" marB="2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Reflect</a:t>
                      </a:r>
                    </a:p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反思推理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將Retrieve取出的資料跟市場動能組成提示詞送給 LLM,並事先規定好回答格式,回答不符合規定則會重寫,直到正確格式的結果為止。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Retrieve 取出的資料＋Observe 的市場動能趨勢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引用資料編號＋推理摘要,摘要會回寫進反思層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把記憶庫資料與市場觀察轉成一段可解釋的推理</a:t>
                      </a:r>
                    </a:p>
                  </a:txBody>
                  <a:tcPr marL="25000" marR="25000" marT="2000" marB="2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Investment decisions and reflecting outcomes</a:t>
                      </a:r>
                    </a:p>
                    <a:p>
                      <a:r>
                        <a:rPr sz="850" b="1">
                          <a:solidFill>
                            <a:srgbClr val="202020"/>
                          </a:solidFill>
                          <a:latin typeface="Microsoft JhengHei"/>
                        </a:rPr>
                        <a:t>投資決策及結果反映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用 Reflect 的結論產出決策結果 (買/賣/持有),並回頭依照最近幾天的損益,替用到的那些資料加分或扣分,讓整個記憶庫的每筆資料完成當天的分數的增減、升降層變動。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Reflect 的推理結果＋目前持倉＋近期損益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買/賣/持有 決策、更新後的持倉、記憶庫資料分數獎懲及分數變動</a:t>
                      </a:r>
                    </a:p>
                  </a:txBody>
                  <a:tcPr marL="25000" marR="25000" marT="2000" marB="2000" anchor="ctr"/>
                </a:tc>
                <a:tc>
                  <a:txBody>
                    <a:bodyPr/>
                    <a:lstStyle/>
                    <a:p>
                      <a:r>
                        <a:rPr sz="85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把推理轉成倉位動作,並用實際績效回頭校正資料的可信度</a:t>
                      </a:r>
                    </a:p>
                  </a:txBody>
                  <a:tcPr marL="25000" marR="25000" marT="2000" marB="2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02020"/>
                </a:solidFill>
                <a:latin typeface="Microsoft JhengHei"/>
              </a:rPr>
              <a:t>各模組對應程式碼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340000"/>
            <a:ext cx="11826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02020"/>
                </a:solidFill>
                <a:latin typeface="Microsoft JhengHei"/>
              </a:rPr>
              <a:t>分成兩塊:</a:t>
            </a:r>
            <a:r>
              <a:rPr sz="1100" b="0">
                <a:solidFill>
                  <a:srgbClr val="202020"/>
                </a:solidFill>
                <a:latin typeface="Microsoft JhengHei"/>
              </a:rPr>
              <a:t>puppy/ 是每天運行的 Agent 原始碼,data-pipeline/ 是模擬開始前的資料處理。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630334"/>
              </p:ext>
            </p:extLst>
          </p:nvPr>
        </p:nvGraphicFramePr>
        <p:xfrm>
          <a:off x="182880" y="700000"/>
          <a:ext cx="11826240" cy="489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2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 marL="30000" marR="30000" marT="4000" marB="4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對應檔案</a:t>
                      </a:r>
                    </a:p>
                  </a:txBody>
                  <a:tcPr marL="30000" marR="30000" marT="4000" marB="4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程式碼功能</a:t>
                      </a:r>
                    </a:p>
                  </a:txBody>
                  <a:tcPr marL="30000" marR="30000" marT="4000" marB="4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Summarize</a:t>
                      </a:r>
                    </a:p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摘要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data-pipeline/03-summary.py ＋ 03-model_wrapper.py(壓成 200 tokens 摘要、標記情緒分數)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呼叫 LLM,把一整篇新聞或財報的原文壓縮成約 200 tokens 的精簡摘要,存回 CSV,減少之後存進記憶庫與送進提示詞的負擔</a:t>
                      </a:r>
                    </a:p>
                  </a:txBody>
                  <a:tcPr marL="30000" marR="30000" marT="3000" marB="3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Profiling</a:t>
                      </a:r>
                      <a:r>
                        <a:rPr lang="zh-TW" altLang="en-US" sz="90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90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Module</a:t>
                      </a:r>
                      <a:endParaRPr lang="en-US" sz="900" b="1" dirty="0">
                        <a:solidFill>
                          <a:srgbClr val="202020"/>
                        </a:solidFill>
                        <a:latin typeface="Microsoft JhengHei"/>
                      </a:endParaRPr>
                    </a:p>
                    <a:p>
                      <a:r>
                        <a:rPr lang="zh-TW" altLang="en-US" sz="900" b="1" dirty="0">
                          <a:solidFill>
                            <a:srgbClr val="20202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角色設定</a:t>
                      </a:r>
                      <a:endParaRPr sz="900" b="1" dirty="0">
                        <a:solidFill>
                          <a:srgbClr val="20202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config/*.toml 的 character_string ＋ puppy/agent.py(存成 Agent 固定屬性)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建立 Agent 的當下,把設定檔這段人設文字讀進來,存成 Agent 的固定屬性,整個模擬過程都不會再變動;用途是交給 Retrieve 當查詢向量的來源</a:t>
                      </a:r>
                    </a:p>
                  </a:txBody>
                  <a:tcPr marL="30000" marR="30000" marT="3000" marB="3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Sorting</a:t>
                      </a:r>
                    </a:p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分類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puppy/agent.py(LLMAgent.step() 開頭,每天流程第一步)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每天執行的第一步:讀進當天打包好的股價、新聞、財報,依型態各自呼叫對應的處理函式,文字類存進記憶庫、股價交給 Observe 計算動能</a:t>
                      </a:r>
                    </a:p>
                  </a:txBody>
                  <a:tcPr marL="30000" marR="30000" marT="3000" marB="3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Observe</a:t>
                      </a:r>
                    </a:p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puppy/portfolio.py(get_moment(),計算股價動能)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抓最近 3 天的收盤價,逐日相減後加總,結果大於零記為上漲、小於零記為下跌、等於零記為持平,轉換成一句敘述,供 Reflect 直接使用</a:t>
                      </a:r>
                    </a:p>
                  </a:txBody>
                  <a:tcPr marL="30000" marR="30000" marT="3000" marB="3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Layered Long-term</a:t>
                      </a:r>
                    </a:p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Memory / 分層長期記憶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puppy/memorydb.py(MemoryDB、BrainDB,四層記憶庫存取與升降層)</a:t>
                      </a:r>
                    </a:p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puppy/memory_functions/(重要性、新近度、綜合分數計算)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MemoryDB 負責單一層的資料存取與三種分數計算;BrainDB 把淺/中/深/反思四個 MemoryDB 包成一個整體,統一查詢與寫入;memory_functions 底下的檔案分別負責重要性分數的初始抽籤機率、每日的指數衰退、被引用後的加減分,以及合成排序用的綜合分數</a:t>
                      </a:r>
                    </a:p>
                  </a:txBody>
                  <a:tcPr marL="30000" marR="30000" marT="3000" marB="3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Retrieve</a:t>
                      </a:r>
                    </a:p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檢索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puppy/memorydb.py(MemoryDB.query(),相似度檢索)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把 Profiling 設定的人設字串轉成查詢向量,對這一層裡的每一筆資料做相似度比對,再跟資料本身的綜合分數加總排名,取分數最高的前 3 筆回傳</a:t>
                      </a:r>
                    </a:p>
                  </a:txBody>
                  <a:tcPr marL="30000" marR="30000" marT="3000" marB="3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Reflect</a:t>
                      </a:r>
                    </a:p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反思推理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puppy/reflection.py(反思主流程)</a:t>
                      </a:r>
                    </a:p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puppy/chat.py ＋ prompts.py(LLM 呼叫與提示詞模板)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把 Retrieve 撈出的資料內容跟 Observe 的動能敘述組成一段提示詞,呼叫 LLM 取得回應,並驗證回傳格式是否正確;LLM 會自行判斷這次要引用哪些記憶編號,數量不固定</a:t>
                      </a:r>
                    </a:p>
                  </a:txBody>
                  <a:tcPr marL="30000" marR="30000" marT="3000" marB="3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Investment decisions</a:t>
                      </a:r>
                    </a:p>
                    <a:p>
                      <a:r>
                        <a:rPr sz="900" b="1">
                          <a:solidFill>
                            <a:srgbClr val="202020"/>
                          </a:solidFill>
                          <a:latin typeface="Microsoft JhengHei"/>
                        </a:rPr>
                        <a:t>and reflecting outcomes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puppy/agent.py(依模式產出決策、寫入持倉紀錄)</a:t>
                      </a:r>
                    </a:p>
                    <a:p>
                      <a:r>
                        <a:rPr sz="85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puppy/agent.py ＋ portfolio.py(回顧損益,幫記憶加減分)</a:t>
                      </a:r>
                    </a:p>
                  </a:txBody>
                  <a:tcPr marL="30000" marR="30000" marT="3000" marB="3000" anchor="ctr"/>
                </a:tc>
                <a:tc>
                  <a:txBody>
                    <a:bodyPr/>
                    <a:lstStyle/>
                    <a:p>
                      <a:r>
                        <a:rPr sz="85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先依模式決定買賣方向</a:t>
                      </a:r>
                      <a:r>
                        <a:rPr sz="85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(Test </a:t>
                      </a:r>
                      <a:r>
                        <a:rPr sz="85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模式看</a:t>
                      </a:r>
                      <a:r>
                        <a:rPr sz="85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LLM </a:t>
                      </a:r>
                      <a:r>
                        <a:rPr sz="85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的決策,Train</a:t>
                      </a:r>
                      <a:r>
                        <a:rPr sz="85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模式看隔日實際漲跌</a:t>
                      </a:r>
                      <a:r>
                        <a:rPr sz="85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);</a:t>
                      </a:r>
                      <a:r>
                        <a:rPr sz="85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接著把改動寫進持倉紀錄;再往回看最近幾天的實際損益,對這次引用過的記憶加分或扣分;最後呼叫</a:t>
                      </a:r>
                      <a:r>
                        <a:rPr sz="85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85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brain.step</a:t>
                      </a:r>
                      <a:r>
                        <a:rPr sz="85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(),</a:t>
                      </a:r>
                      <a:r>
                        <a:rPr sz="85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讓整個記憶庫完成當天的分數異動、清除與升降層檢查</a:t>
                      </a:r>
                      <a:endParaRPr sz="850" b="0" dirty="0">
                        <a:solidFill>
                          <a:srgbClr val="202020"/>
                        </a:solidFill>
                        <a:latin typeface="Microsoft JhengHei"/>
                      </a:endParaRPr>
                    </a:p>
                  </a:txBody>
                  <a:tcPr marL="30000" marR="30000" marT="3000" marB="3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3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02020"/>
                </a:solidFill>
                <a:latin typeface="Microsoft JhengHei"/>
              </a:rPr>
              <a:t>論文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345720"/>
            <a:ext cx="1182624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02020"/>
                </a:solidFill>
                <a:latin typeface="Microsoft JhengHei"/>
              </a:rPr>
              <a:t>FinMem: A Performance-Enhanced LLM Trading Agent with Layered Memory and Character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65720"/>
            <a:ext cx="11826240" cy="560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0000" rIns="100000" bIns="60000" rtlCol="0" anchor="ctr"/>
          <a:lstStyle/>
          <a:p>
            <a:pPr algn="l"/>
            <a:r>
              <a:rPr sz="1050" b="1">
                <a:solidFill>
                  <a:srgbClr val="202020"/>
                </a:solidFill>
                <a:latin typeface="Microsoft JhengHei"/>
              </a:rPr>
              <a:t>作者(9 位): 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Yangyang Yu、Haohang Li、Zhi Chen、Yuechen Jiang、Yang Li、Denghui Zhang、Rong Liu、Jordan W. Suchow、Khaldoun Khashanah</a:t>
            </a:r>
          </a:p>
          <a:p>
            <a:pPr algn="l"/>
            <a:r>
              <a:rPr sz="1050" b="1">
                <a:solidFill>
                  <a:srgbClr val="202020"/>
                </a:solidFill>
                <a:latin typeface="Microsoft JhengHei"/>
              </a:rPr>
              <a:t>arXiv: 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2311.13743(q-fin.CP)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455720"/>
            <a:ext cx="3657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02020"/>
                </a:solidFill>
                <a:latin typeface="Microsoft JhengHei"/>
              </a:rPr>
              <a:t>發表與收錄紀錄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765720"/>
          <a:ext cx="11826240" cy="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T="4000" marB="4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場合</a:t>
                      </a:r>
                    </a:p>
                  </a:txBody>
                  <a:tcPr marT="4000" marB="4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T="4000" marB="4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2024-01</a:t>
                      </a:r>
                    </a:p>
                  </a:txBody>
                  <a:tcPr marT="3000" marB="30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AAAI Spring Symposium on Human-Like Learning</a:t>
                      </a:r>
                    </a:p>
                  </a:txBody>
                  <a:tcPr marT="3000" marB="30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延伸摘要入選</a:t>
                      </a:r>
                    </a:p>
                  </a:txBody>
                  <a:tcPr marT="3000" marB="3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2024-03</a:t>
                      </a:r>
                    </a:p>
                  </a:txBody>
                  <a:tcPr marT="3000" marB="30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ICLR Workshop on LLM Agents</a:t>
                      </a:r>
                    </a:p>
                  </a:txBody>
                  <a:tcPr marT="3000" marB="30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論文獲接受</a:t>
                      </a:r>
                    </a:p>
                  </a:txBody>
                  <a:tcPr marT="3000" marB="3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2024-06</a:t>
                      </a:r>
                    </a:p>
                  </a:txBody>
                  <a:tcPr marT="3000" marB="30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IJCAI 2024 FinLLM Challenge — Task 3 Single Stock Trading</a:t>
                      </a:r>
                    </a:p>
                  </a:txBody>
                  <a:tcPr marT="3000" marB="3000" anchor="ctr"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Microsoft JhengHei"/>
                        </a:rPr>
                        <a:t>參賽並完成挑戰(共 12 隊參與)</a:t>
                      </a:r>
                    </a:p>
                  </a:txBody>
                  <a:tcPr marT="3000" marB="3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2755720"/>
            <a:ext cx="45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02020"/>
                </a:solidFill>
                <a:latin typeface="Microsoft JhengHei"/>
              </a:rPr>
              <a:t>論文原文定義的三大核心模組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3065720"/>
            <a:ext cx="1182624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202020"/>
                </a:solidFill>
                <a:latin typeface="Microsoft JhengHei"/>
              </a:rPr>
              <a:t>論文摘要裡明確把 FinMem 分成三個核心模組:</a:t>
            </a:r>
          </a:p>
          <a:p>
            <a:pPr algn="l"/>
            <a:r>
              <a:rPr sz="1050" b="1" dirty="0">
                <a:solidFill>
                  <a:srgbClr val="2E6DA4"/>
                </a:solidFill>
                <a:latin typeface="Microsoft JhengHei"/>
              </a:rPr>
              <a:t>Profiling</a:t>
            </a:r>
            <a:r>
              <a:rPr sz="1050" b="0" dirty="0">
                <a:solidFill>
                  <a:srgbClr val="202020"/>
                </a:solidFill>
                <a:latin typeface="Microsoft JhengHei"/>
              </a:rPr>
              <a:t> — 描述 Agent 的特質(對應 Profiling)</a:t>
            </a:r>
          </a:p>
          <a:p>
            <a:pPr algn="l"/>
            <a:r>
              <a:rPr sz="1050" b="1" dirty="0">
                <a:solidFill>
                  <a:srgbClr val="B07020"/>
                </a:solidFill>
                <a:latin typeface="Microsoft JhengHei"/>
              </a:rPr>
              <a:t>Memory</a:t>
            </a:r>
            <a:r>
              <a:rPr sz="1050" b="0" dirty="0">
                <a:solidFill>
                  <a:srgbClr val="202020"/>
                </a:solidFill>
                <a:latin typeface="Microsoft JhengHei"/>
              </a:rPr>
              <a:t> — 分層處理,協助 Agent 吸收真實層級結構的財務資料(對應 Layered Long-term Memory ＋ Retrieve)</a:t>
            </a:r>
          </a:p>
          <a:p>
            <a:r>
              <a:rPr sz="1050" b="1" dirty="0">
                <a:solidFill>
                  <a:srgbClr val="309040"/>
                </a:solidFill>
                <a:latin typeface="Microsoft JhengHei"/>
              </a:rPr>
              <a:t>Decision-making</a:t>
            </a:r>
            <a:r>
              <a:rPr sz="1050" b="0" dirty="0">
                <a:solidFill>
                  <a:srgbClr val="202020"/>
                </a:solidFill>
                <a:latin typeface="Microsoft JhengHei"/>
              </a:rPr>
              <a:t> —</a:t>
            </a:r>
            <a:r>
              <a:rPr lang="zh-TW" altLang="en-US" sz="1050" b="0" dirty="0">
                <a:solidFill>
                  <a:srgbClr val="202020"/>
                </a:solidFill>
                <a:latin typeface="Microsoft JhengHei"/>
              </a:rPr>
              <a:t> </a:t>
            </a:r>
            <a:r>
              <a:rPr lang="zh-TW" altLang="en-US" sz="105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把記憶的資料轉換成投資決策</a:t>
            </a:r>
            <a:r>
              <a:rPr lang="en-US" altLang="zh-TW" sz="105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(</a:t>
            </a:r>
            <a:r>
              <a:rPr lang="zh-TW" altLang="en-US" sz="105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對應 </a:t>
            </a:r>
            <a:r>
              <a:rPr lang="en-US" sz="1050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Reflect ＋ Investment decisions and reflecting outcomes)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825720"/>
            <a:ext cx="3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02020"/>
                </a:solidFill>
                <a:latin typeface="Microsoft JhengHei"/>
              </a:rPr>
              <a:t>研究結果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4135720"/>
            <a:ext cx="1182624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202020"/>
                </a:solidFill>
                <a:latin typeface="Microsoft JhengHei"/>
              </a:rPr>
              <a:t>在可擴充的真實股票與基金資料集上,FinMem 的交易績效領先其他演算法型 Agent;論文作者接著調整 Agent 對記憶的「感知範圍」(要看多近或多遠的記憶),進一步提升績效。論文主張,FinMem 分層記憶的設計貼近人類交易員的認知結構,可解釋性高,且能保留超出人類記憶負荷的關鍵資訊。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202020"/>
                </a:solidFill>
                <a:latin typeface="Microsoft JhengHei"/>
              </a:rPr>
              <a:t>實際應用場景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375720"/>
            <a:ext cx="1182624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3030"/>
                </a:solidFill>
                <a:latin typeface="Microsoft JhengHei"/>
              </a:rPr>
              <a:t>這套系統是用於研究回測框架,不是接入真實券商的下單系統,不能直接用於實盤交易。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926860"/>
            <a:ext cx="760000" cy="320000"/>
          </a:xfrm>
          <a:prstGeom prst="roundRect">
            <a:avLst/>
          </a:prstGeom>
          <a:solidFill>
            <a:srgbClr val="2E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應用一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880" y="1926860"/>
            <a:ext cx="1094624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02020"/>
                </a:solidFill>
                <a:latin typeface="Microsoft JhengHei"/>
              </a:rPr>
              <a:t>單一股票的交易決策模擬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2336860"/>
            <a:ext cx="11826240" cy="130000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40000" rIns="80000" bIns="40000" rtlCol="0" anchor="ctr"/>
          <a:lstStyle/>
          <a:p>
            <a:pPr algn="l"/>
            <a:r>
              <a:rPr sz="1250" b="0" dirty="0">
                <a:solidFill>
                  <a:srgbClr val="202020"/>
                </a:solidFill>
                <a:latin typeface="Microsoft JhengHei"/>
              </a:rPr>
              <a:t>以單一股票為交易標的,讓 Agent 讀取每天的新聞、財報與股價,產出「買進 / 賣出 / 持有」的模擬決策,並回顧損益,評估這筆決策的績效。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886860"/>
            <a:ext cx="760000" cy="320000"/>
          </a:xfrm>
          <a:prstGeom prst="roundRect">
            <a:avLst/>
          </a:prstGeom>
          <a:solidFill>
            <a:srgbClr val="2E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應用二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2880" y="3960012"/>
            <a:ext cx="1094624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zh-TW" altLang="en-US" sz="1300" b="1" dirty="0">
                <a:solidFill>
                  <a:srgbClr val="202020"/>
                </a:solidFill>
                <a:latin typeface="微軟正黑體" pitchFamily="34" charset="-120"/>
                <a:ea typeface="微軟正黑體" pitchFamily="34" charset="-120"/>
              </a:rPr>
              <a:t>財經文本整理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" y="4296860"/>
            <a:ext cx="11826240" cy="130000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40000" rIns="80000" bIns="40000" rtlCol="0" anchor="ctr"/>
          <a:lstStyle/>
          <a:p>
            <a:pPr algn="l"/>
            <a:r>
              <a:rPr sz="1250" b="0" dirty="0">
                <a:solidFill>
                  <a:srgbClr val="202020"/>
                </a:solidFill>
                <a:latin typeface="Microsoft JhengHei"/>
              </a:rPr>
              <a:t>把冗長的新聞和 10-K / 10-Q 財報壓縮成精簡摘要,並標記 正/負/中立 的情緒分數,可以單獨當作財經文本前處理工具使用,不一定要跑完整個流程。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E3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2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dirty="0" err="1">
                <a:solidFill>
                  <a:srgbClr val="FFFFFF"/>
                </a:solidFill>
                <a:latin typeface="Microsoft JhengHei"/>
              </a:rPr>
              <a:t>謝謝聆聽</a:t>
            </a:r>
            <a:endParaRPr sz="44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961</Words>
  <Application>Microsoft Office PowerPoint</Application>
  <PresentationFormat>寬螢幕</PresentationFormat>
  <Paragraphs>156</Paragraphs>
  <Slides>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2" baseType="lpstr">
      <vt:lpstr>Microsoft JhengHei</vt:lpstr>
      <vt:lpstr>Microsoft JhengHei</vt:lpstr>
      <vt:lpstr>Aptos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subject/>
  <dc:creator/>
  <cp:keywords/>
  <dc:description>generated using python-pptx</dc:description>
  <cp:lastModifiedBy>鄭又瑄</cp:lastModifiedBy>
  <cp:revision>22</cp:revision>
  <dcterms:created xsi:type="dcterms:W3CDTF">2013-01-27T09:14:16Z</dcterms:created>
  <dcterms:modified xsi:type="dcterms:W3CDTF">2026-08-19T11:42:25Z</dcterms:modified>
  <cp:category/>
</cp:coreProperties>
</file>