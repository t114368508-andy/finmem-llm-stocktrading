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3898880" cy="95097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02020"/>
                </a:solidFill>
                <a:latin typeface="Microsoft JhengHei"/>
              </a:rPr>
              <a:t>FinMem 架構圖與模組總覽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75488"/>
            <a:ext cx="13350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202020"/>
                </a:solidFill>
                <a:latin typeface="Microsoft JhengHei"/>
              </a:rPr>
              <a:t>整體流程:</a:t>
            </a:r>
            <a:r>
              <a:rPr sz="1050" b="0">
                <a:solidFill>
                  <a:srgbClr val="202020"/>
                </a:solidFill>
                <a:latin typeface="Microsoft JhengHei"/>
              </a:rPr>
              <a:t>原始新聞與財報先在模擬開始前離線摘要好,交易當天則把摘要文字與即時股價一起送進系統,先分類成文字/股價兩路——文字存進分層長期記憶、股價直接算動能;檢索記憶時以一次性設定好的角色人設當查詢依據,找出最相關的記憶,再連同動能事實一起交給 LLM 反思,最後產出買進/賣出/持有的決策。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2416" y="1234440"/>
            <a:ext cx="1920240" cy="548640"/>
          </a:xfrm>
          <a:prstGeom prst="roundRect">
            <a:avLst/>
          </a:prstGeom>
          <a:solidFill>
            <a:srgbClr val="ECECEC"/>
          </a:solidFill>
          <a:ln w="12700">
            <a:solidFill>
              <a:srgbClr val="8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900" b="1">
                <a:solidFill>
                  <a:srgbClr val="202020"/>
                </a:solidFill>
                <a:latin typeface="Microsoft JhengHei"/>
              </a:rPr>
              <a:t>Summarize 摘要</a:t>
            </a:r>
          </a:p>
          <a:p>
            <a:pPr algn="ctr"/>
            <a:r>
              <a:rPr sz="900" b="1">
                <a:solidFill>
                  <a:srgbClr val="202020"/>
                </a:solidFill>
                <a:latin typeface="Microsoft JhengHei"/>
              </a:rPr>
              <a:t>(離線前處理)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02536" y="1783080"/>
            <a:ext cx="0" cy="365760"/>
          </a:xfrm>
          <a:prstGeom prst="line">
            <a:avLst/>
          </a:prstGeom>
          <a:ln w="19050">
            <a:solidFill>
              <a:srgbClr val="8080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-146303" y="1801368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808080"/>
                </a:solidFill>
                <a:latin typeface="Microsoft JhengHei"/>
              </a:rPr>
              <a:t>模擬開始前先把原始新聞/財報壓縮成摘要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234440"/>
            <a:ext cx="1828800" cy="548640"/>
          </a:xfrm>
          <a:prstGeom prst="roundRect">
            <a:avLst/>
          </a:prstGeom>
          <a:solidFill>
            <a:srgbClr val="DDE8F5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900" b="1">
                <a:solidFill>
                  <a:srgbClr val="2E6DA4"/>
                </a:solidFill>
                <a:latin typeface="Microsoft JhengHei"/>
              </a:rPr>
              <a:t>Profiling 角色設定</a:t>
            </a:r>
          </a:p>
          <a:p>
            <a:pPr algn="ctr"/>
            <a:r>
              <a:rPr sz="900" b="1">
                <a:solidFill>
                  <a:srgbClr val="2E6DA4"/>
                </a:solidFill>
                <a:latin typeface="Microsoft JhengHei"/>
              </a:rPr>
              <a:t>(一次性)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995160" y="1783080"/>
            <a:ext cx="0" cy="365760"/>
          </a:xfrm>
          <a:prstGeom prst="line">
            <a:avLst/>
          </a:prstGeom>
          <a:ln w="19050">
            <a:solidFill>
              <a:srgbClr val="2E6DA4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66360" y="18013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2E6DA4"/>
                </a:solidFill>
                <a:latin typeface="Microsoft JhengHei"/>
              </a:rPr>
              <a:t>建立 Agent 時設定一次,當作檢索記憶的查詢依據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33856" y="2148840"/>
            <a:ext cx="1737360" cy="1618488"/>
          </a:xfrm>
          <a:prstGeom prst="roundRect">
            <a:avLst/>
          </a:prstGeom>
          <a:solidFill>
            <a:srgbClr val="EFEFE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950" b="1">
                <a:solidFill>
                  <a:srgbClr val="202020"/>
                </a:solidFill>
                <a:latin typeface="Microsoft JhengHei"/>
              </a:rPr>
              <a:t>已摘要文字</a:t>
            </a:r>
          </a:p>
          <a:p>
            <a:pPr algn="ctr"/>
            <a:r>
              <a:rPr sz="950" b="1">
                <a:solidFill>
                  <a:srgbClr val="202020"/>
                </a:solidFill>
                <a:latin typeface="Microsoft JhengHei"/>
              </a:rPr>
              <a:t>＋即時股價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898648" y="2811780"/>
            <a:ext cx="237744" cy="292608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63824" y="2148840"/>
            <a:ext cx="1234440" cy="1618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1000" b="1">
                <a:solidFill>
                  <a:srgbClr val="202020"/>
                </a:solidFill>
                <a:latin typeface="Microsoft JhengHei"/>
              </a:rPr>
              <a:t>Sorting</a:t>
            </a:r>
          </a:p>
          <a:p>
            <a:pPr algn="ctr"/>
            <a:r>
              <a:rPr sz="1000" b="1">
                <a:solidFill>
                  <a:srgbClr val="202020"/>
                </a:solidFill>
                <a:latin typeface="Microsoft JhengHei"/>
              </a:rPr>
              <a:t>分類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425696" y="2350008"/>
            <a:ext cx="237744" cy="256032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4425696" y="3310128"/>
            <a:ext cx="237744" cy="256032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90872" y="2148840"/>
            <a:ext cx="1417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780" b="1">
                <a:solidFill>
                  <a:srgbClr val="202020"/>
                </a:solidFill>
                <a:latin typeface="Microsoft JhengHei"/>
              </a:rPr>
              <a:t>Layered Memory</a:t>
            </a:r>
          </a:p>
          <a:p>
            <a:pPr algn="ctr"/>
            <a:r>
              <a:rPr sz="780" b="1">
                <a:solidFill>
                  <a:srgbClr val="202020"/>
                </a:solidFill>
                <a:latin typeface="Microsoft JhengHei"/>
              </a:rPr>
              <a:t>分層長期記憶</a:t>
            </a:r>
          </a:p>
          <a:p>
            <a:pPr algn="ctr"/>
            <a:r>
              <a:rPr sz="780" b="1">
                <a:solidFill>
                  <a:srgbClr val="202020"/>
                </a:solidFill>
                <a:latin typeface="Microsoft JhengHei"/>
              </a:rPr>
              <a:t>(4 庫,依分數升降)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135624" y="2350008"/>
            <a:ext cx="237744" cy="256032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2148840"/>
            <a:ext cx="11887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950" b="1">
                <a:solidFill>
                  <a:srgbClr val="202020"/>
                </a:solidFill>
                <a:latin typeface="Microsoft JhengHei"/>
              </a:rPr>
              <a:t>Retrieve</a:t>
            </a:r>
          </a:p>
          <a:p>
            <a:pPr algn="ctr"/>
            <a:r>
              <a:rPr sz="950" b="1">
                <a:solidFill>
                  <a:srgbClr val="202020"/>
                </a:solidFill>
                <a:latin typeface="Microsoft JhengHei"/>
              </a:rPr>
              <a:t>記憶檢索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616952" y="2350008"/>
            <a:ext cx="237744" cy="256032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90872" y="3108960"/>
            <a:ext cx="14173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950" b="1">
                <a:solidFill>
                  <a:srgbClr val="202020"/>
                </a:solidFill>
                <a:latin typeface="Microsoft JhengHei"/>
              </a:rPr>
              <a:t>Observe</a:t>
            </a:r>
          </a:p>
          <a:p>
            <a:pPr algn="ctr"/>
            <a:r>
              <a:rPr sz="950" b="1">
                <a:solidFill>
                  <a:srgbClr val="202020"/>
                </a:solidFill>
                <a:latin typeface="Microsoft JhengHei"/>
              </a:rPr>
              <a:t>動能觀察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35624" y="3310128"/>
            <a:ext cx="1719072" cy="256032"/>
          </a:xfrm>
          <a:prstGeom prst="rightArrow">
            <a:avLst/>
          </a:prstGeom>
          <a:solidFill>
            <a:srgbClr val="D9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35624" y="3584448"/>
            <a:ext cx="17190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D98A3A"/>
                </a:solidFill>
                <a:latin typeface="Microsoft JhengHei"/>
              </a:rPr>
              <a:t>不經記憶層,直接提供市場事實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82128" y="2148840"/>
            <a:ext cx="1371600" cy="1618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1000" b="1">
                <a:solidFill>
                  <a:srgbClr val="202020"/>
                </a:solidFill>
                <a:latin typeface="Microsoft JhengHei"/>
              </a:rPr>
              <a:t>Reflect</a:t>
            </a:r>
          </a:p>
          <a:p>
            <a:pPr algn="ctr"/>
            <a:r>
              <a:rPr sz="1000" b="1">
                <a:solidFill>
                  <a:srgbClr val="202020"/>
                </a:solidFill>
                <a:latin typeface="Microsoft JhengHei"/>
              </a:rPr>
              <a:t>反思推理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281160" y="2830068"/>
            <a:ext cx="237744" cy="256032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546336" y="2569464"/>
            <a:ext cx="1371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950" b="1">
                <a:solidFill>
                  <a:srgbClr val="202020"/>
                </a:solidFill>
                <a:latin typeface="Microsoft JhengHei"/>
              </a:rPr>
              <a:t>Decision-making</a:t>
            </a:r>
          </a:p>
          <a:p>
            <a:pPr algn="ctr"/>
            <a:r>
              <a:rPr sz="950" b="1">
                <a:solidFill>
                  <a:srgbClr val="202020"/>
                </a:solidFill>
                <a:latin typeface="Microsoft JhengHei"/>
              </a:rPr>
              <a:t>決策輸出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3401568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1">
                <a:solidFill>
                  <a:srgbClr val="606060"/>
                </a:solidFill>
                <a:latin typeface="Microsoft JhengHei"/>
              </a:rPr>
              <a:t>4 個子步驟:</a:t>
            </a:r>
          </a:p>
          <a:p>
            <a:pPr algn="ctr">
              <a:lnSpc>
                <a:spcPct val="110000"/>
              </a:lnSpc>
            </a:pPr>
            <a:r>
              <a:rPr sz="750" b="1">
                <a:solidFill>
                  <a:srgbClr val="606060"/>
                </a:solidFill>
                <a:latin typeface="Microsoft JhengHei"/>
              </a:rPr>
              <a:t>①方向 ②記帳 ③回饋記憶 ④記憶維運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945368" y="2830068"/>
            <a:ext cx="237744" cy="256032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210544" y="2569464"/>
            <a:ext cx="1554480" cy="777240"/>
          </a:xfrm>
          <a:prstGeom prst="roundRect">
            <a:avLst/>
          </a:prstGeom>
          <a:solidFill>
            <a:srgbClr val="EFEFE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950" b="1">
                <a:solidFill>
                  <a:srgbClr val="202020"/>
                </a:solidFill>
                <a:latin typeface="Microsoft JhengHei"/>
              </a:rPr>
              <a:t>交易決策</a:t>
            </a:r>
          </a:p>
          <a:p>
            <a:pPr algn="ctr"/>
            <a:r>
              <a:rPr sz="950" b="1">
                <a:solidFill>
                  <a:srgbClr val="202020"/>
                </a:solidFill>
                <a:latin typeface="Microsoft JhengHei"/>
              </a:rPr>
              <a:t>Buy / Sell / Hold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36224" y="340156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C03030"/>
                </a:solidFill>
                <a:latin typeface="Microsoft JhengHei"/>
              </a:rPr>
              <a:t>模擬持倉,未連接真實券商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1133856" y="4270248"/>
          <a:ext cx="11631164" cy="5102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3116"/>
                <a:gridCol w="3721973"/>
                <a:gridCol w="2326233"/>
                <a:gridCol w="2209921"/>
                <a:gridCol w="2209921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模組</a:t>
                      </a:r>
                    </a:p>
                  </a:txBody>
                  <a:tcPr marL="40000" marR="40000" marT="10000" marB="10000" anchor="ctr">
                    <a:solidFill>
                      <a:srgbClr val="2E3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結構</a:t>
                      </a:r>
                    </a:p>
                  </a:txBody>
                  <a:tcPr marL="40000" marR="40000" marT="10000" marB="10000" anchor="ctr">
                    <a:solidFill>
                      <a:srgbClr val="2E3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輸入</a:t>
                      </a:r>
                    </a:p>
                  </a:txBody>
                  <a:tcPr marL="40000" marR="40000" marT="10000" marB="10000" anchor="ctr">
                    <a:solidFill>
                      <a:srgbClr val="2E3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輸出</a:t>
                      </a:r>
                    </a:p>
                  </a:txBody>
                  <a:tcPr marL="40000" marR="40000" marT="10000" marB="10000" anchor="ctr">
                    <a:solidFill>
                      <a:srgbClr val="2E3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功能</a:t>
                      </a:r>
                    </a:p>
                  </a:txBody>
                  <a:tcPr marL="40000" marR="40000" marT="10000" marB="10000" anchor="ctr">
                    <a:solidFill>
                      <a:srgbClr val="2E3B4E"/>
                    </a:solidFill>
                  </a:tcPr>
                </a:tc>
              </a:tr>
              <a:tr h="598932">
                <a:tc>
                  <a:txBody>
                    <a:bodyPr wrap="square"/>
                    <a:lstStyle/>
                    <a:p>
                      <a:pPr algn="ctr"/>
                      <a:r>
                        <a:rPr sz="860" b="1">
                          <a:solidFill>
                            <a:srgbClr val="000000"/>
                          </a:solidFill>
                          <a:latin typeface="Microsoft JhengHei"/>
                        </a:rPr>
                        <a:t>Summarize</a:t>
                      </a:r>
                    </a:p>
                    <a:p>
                      <a:pPr algn="ctr"/>
                      <a:r>
                        <a:rPr sz="860" b="1">
                          <a:solidFill>
                            <a:srgbClr val="000000"/>
                          </a:solidFill>
                          <a:latin typeface="Microsoft JhengHei"/>
                        </a:rPr>
                        <a:t>摘要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不在每日流程裡,是模擬開始前的離線腳本,呼叫 LLM 把原文壓成約 200 tokens 摘要,另用 VADER/FinBERT 幫新聞標情緒分數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清理過的原始新聞、10-K、10-Q 全文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壓縮後的摘要文字(和情緒標註),供每日流程使用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先把落落長的文件濃縮,減少之後存記憶與送 prompt 的負擔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</a:tr>
              <a:tr h="598932">
                <a:tc>
                  <a:txBody>
                    <a:bodyPr wrap="square"/>
                    <a:lstStyle/>
                    <a:p>
                      <a:pPr algn="ctr"/>
                      <a:r>
                        <a:rPr sz="860" b="1">
                          <a:solidFill>
                            <a:srgbClr val="000000"/>
                          </a:solidFill>
                          <a:latin typeface="Microsoft JhengHei"/>
                        </a:rPr>
                        <a:t>Profiling</a:t>
                      </a:r>
                    </a:p>
                    <a:p>
                      <a:pPr algn="ctr"/>
                      <a:r>
                        <a:rPr sz="860" b="1">
                          <a:solidFill>
                            <a:srgbClr val="000000"/>
                          </a:solidFill>
                          <a:latin typeface="Microsoft JhengHei"/>
                        </a:rPr>
                        <a:t>Module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建立 Agent 時,由設定檔裡固定的一段文字模板決定,描述交易專長與風險傾向,模擬過程中不再改變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設定檔裡寫好的產業背景與人設文字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貫穿模擬過程使用的角色人設字串,做為 Retrieve 檢索記憶的查詢依據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決定檢索時撈出哪些記憶,間接影響反思與決策,不隨每日資料變動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</a:tr>
              <a:tr h="598932">
                <a:tc>
                  <a:txBody>
                    <a:bodyPr wrap="square"/>
                    <a:lstStyle/>
                    <a:p>
                      <a:pPr algn="ctr"/>
                      <a:r>
                        <a:rPr sz="860" b="1">
                          <a:solidFill>
                            <a:srgbClr val="000000"/>
                          </a:solidFill>
                          <a:latin typeface="Microsoft JhengHei"/>
                        </a:rPr>
                        <a:t>Sorting</a:t>
                      </a:r>
                    </a:p>
                    <a:p>
                      <a:pPr algn="ctr"/>
                      <a:r>
                        <a:rPr sz="860" b="1">
                          <a:solidFill>
                            <a:srgbClr val="000000"/>
                          </a:solidFill>
                          <a:latin typeface="Microsoft JhengHei"/>
                        </a:rPr>
                        <a:t>分類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沒有獨立程式檔,寫在 agent.py 的 step() 開頭,依資料型態呼叫三個處理函式(檔案/新聞/股價各一個)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當天打包好的市場資料(股價＋10-K＋10-Q＋新聞)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依型態分流:文字送記憶路徑,股價送 Observe 路徑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判斷資料型態,決定接下來走哪條路線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</a:tr>
              <a:tr h="598932">
                <a:tc>
                  <a:txBody>
                    <a:bodyPr wrap="square"/>
                    <a:lstStyle/>
                    <a:p>
                      <a:pPr algn="ctr"/>
                      <a:r>
                        <a:rPr sz="860" b="1">
                          <a:solidFill>
                            <a:srgbClr val="000000"/>
                          </a:solidFill>
                          <a:latin typeface="Microsoft JhengHei"/>
                        </a:rPr>
                        <a:t>Observe</a:t>
                      </a:r>
                    </a:p>
                    <a:p>
                      <a:pPr algn="ctr"/>
                      <a:r>
                        <a:rPr sz="860" b="1">
                          <a:solidFill>
                            <a:srgbClr val="000000"/>
                          </a:solidFill>
                          <a:latin typeface="Microsoft JhengHei"/>
                        </a:rPr>
                        <a:t>觀察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規則式計算(非 LLM):portfolio.get_moment() 把最近 3 天每天的收盤價差加總,大於零記為漲、小於零記為跌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每日收盤價序列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動能趨勢描述文字(漲/跌/持平三選一)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捕捉價格慣性訊號,不經記憶層,直接供 Reflect 使用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</a:tr>
              <a:tr h="598932">
                <a:tc>
                  <a:txBody>
                    <a:bodyPr wrap="square"/>
                    <a:lstStyle/>
                    <a:p>
                      <a:pPr algn="ctr"/>
                      <a:r>
                        <a:rPr sz="860" b="1">
                          <a:solidFill>
                            <a:srgbClr val="000000"/>
                          </a:solidFill>
                          <a:latin typeface="Microsoft JhengHei"/>
                        </a:rPr>
                        <a:t>Layered</a:t>
                      </a:r>
                    </a:p>
                    <a:p>
                      <a:pPr algn="ctr"/>
                      <a:r>
                        <a:rPr sz="860" b="1">
                          <a:solidFill>
                            <a:srgbClr val="000000"/>
                          </a:solidFill>
                          <a:latin typeface="Microsoft JhengHei"/>
                        </a:rPr>
                        <a:t>Memory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4 個獨立記憶庫(淺/中/深/反思),各自算重要性、新近度、綜合分數;重要性分數的增減來自 Decision-making 依實際損益給的回饋(賺加分、賠扣分),分數達門檻就在淺中深之間升降,反思層不參與升降層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Summarize 產出的摘要文字＋Reflect 產出的推理摘要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會隨時間升降層、淘汰的分層記憶庫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模擬「常用且證實有效的記得久、沒用或誤導的忘得快」,決定哪些資訊該長期保留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</a:tr>
              <a:tr h="598932">
                <a:tc>
                  <a:txBody>
                    <a:bodyPr wrap="square"/>
                    <a:lstStyle/>
                    <a:p>
                      <a:pPr algn="ctr"/>
                      <a:r>
                        <a:rPr sz="860" b="1">
                          <a:solidFill>
                            <a:srgbClr val="000000"/>
                          </a:solidFill>
                          <a:latin typeface="Microsoft JhengHei"/>
                        </a:rPr>
                        <a:t>Retrieve</a:t>
                      </a:r>
                    </a:p>
                    <a:p>
                      <a:pPr algn="ctr"/>
                      <a:r>
                        <a:rPr sz="860" b="1">
                          <a:solidFill>
                            <a:srgbClr val="000000"/>
                          </a:solidFill>
                          <a:latin typeface="Microsoft JhengHei"/>
                        </a:rPr>
                        <a:t>檢索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人設字串轉 embedding,對四層各自獨立做向量相似度搜尋,各層取分數最高的 Top-K(K=3)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Profiling 設定的角色人設字串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四層各自的 Top-K 相關記憶(含編號),最多 4×K 筆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找出當下最相關的歷史依據,供 Reflect 使用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</a:tr>
              <a:tr h="598932">
                <a:tc>
                  <a:txBody>
                    <a:bodyPr wrap="square"/>
                    <a:lstStyle/>
                    <a:p>
                      <a:pPr algn="ctr"/>
                      <a:r>
                        <a:rPr sz="860" b="1">
                          <a:solidFill>
                            <a:srgbClr val="000000"/>
                          </a:solidFill>
                          <a:latin typeface="Microsoft JhengHei"/>
                        </a:rPr>
                        <a:t>Reflect</a:t>
                      </a:r>
                    </a:p>
                    <a:p>
                      <a:pPr algn="ctr"/>
                      <a:r>
                        <a:rPr sz="860" b="1">
                          <a:solidFill>
                            <a:srgbClr val="000000"/>
                          </a:solidFill>
                          <a:latin typeface="Microsoft JhengHei"/>
                        </a:rPr>
                        <a:t>反思推理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全流程唯一呼叫 LLM 的地方:guardrails 包裝輸出格式,依訓練/測試模式產出結構化結果;引用幾筆記憶由 LLM 自行判斷,不固定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Retrieve 取出的記憶＋Observe 的市場事實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結構化反思(引用記憶編號＋推理摘要),摘要會回寫進反思層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把記憶與市場觀察轉成一段可解釋的推理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</a:tr>
              <a:tr h="598932">
                <a:tc>
                  <a:txBody>
                    <a:bodyPr wrap="square"/>
                    <a:lstStyle/>
                    <a:p>
                      <a:pPr algn="ctr"/>
                      <a:r>
                        <a:rPr sz="860" b="1">
                          <a:solidFill>
                            <a:srgbClr val="000000"/>
                          </a:solidFill>
                          <a:latin typeface="Microsoft JhengHei"/>
                        </a:rPr>
                        <a:t>Decision</a:t>
                      </a:r>
                    </a:p>
                    <a:p>
                      <a:pPr algn="ctr"/>
                      <a:r>
                        <a:rPr sz="860" b="1">
                          <a:solidFill>
                            <a:srgbClr val="000000"/>
                          </a:solidFill>
                          <a:latin typeface="Microsoft JhengHei"/>
                        </a:rPr>
                        <a:t>-making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4 個子步驟:①依決策(test)或實際隔日漲跌(train)決定買賣方向 ②寫進持倉紀錄(僅內部模擬,未連接真實券商) ③依最近 7 天實際損益,對本次引用的記憶加分或扣分 ④觸發整個記憶庫當天的衰退/清倉/升降層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Reflect 的推理結果＋目前持倉＋近期實際損益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Buy / Sell / Hold 決策、更新後的持倉、記憶分數獎懲、記憶庫完成當天維護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80" b="0">
                          <a:solidFill>
                            <a:srgbClr val="000000"/>
                          </a:solidFill>
                          <a:latin typeface="Microsoft JhengHei"/>
                        </a:rPr>
                        <a:t>把推理轉成模擬倉位動作,並用實際績效回頭校正記憶的可信度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02020"/>
                </a:solidFill>
                <a:latin typeface="Microsoft JhengHei"/>
              </a:rPr>
              <a:t>程式碼:模組怎麼對應到實際檔案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30352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02020"/>
                </a:solidFill>
                <a:latin typeface="Microsoft JhengHei"/>
              </a:rPr>
              <a:t>倉庫分成兩塊:</a:t>
            </a:r>
            <a:r>
              <a:rPr sz="1050" b="0">
                <a:solidFill>
                  <a:srgbClr val="202020"/>
                </a:solidFill>
                <a:latin typeface="Microsoft JhengHei"/>
              </a:rPr>
              <a:t>puppy/ 是每天實際運行的 Agent 原始碼,data-pipeline/ 是模擬開始前的離線資料前處理腳本。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05840"/>
          <a:ext cx="13258799" cy="5029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8819"/>
                <a:gridCol w="4507992"/>
                <a:gridCol w="6761988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模組 / 階段</a:t>
                      </a:r>
                    </a:p>
                  </a:txBody>
                  <a:tcPr marL="40000" marR="40000" marT="10000" marB="10000" anchor="ctr">
                    <a:solidFill>
                      <a:srgbClr val="2E3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對應檔案</a:t>
                      </a:r>
                    </a:p>
                  </a:txBody>
                  <a:tcPr marL="40000" marR="40000" marT="10000" marB="10000" anchor="ctr">
                    <a:solidFill>
                      <a:srgbClr val="2E3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這裡實際在做什麼</a:t>
                      </a:r>
                    </a:p>
                  </a:txBody>
                  <a:tcPr marL="40000" marR="40000" marT="10000" marB="10000" anchor="ctr">
                    <a:solidFill>
                      <a:srgbClr val="2E3B4E"/>
                    </a:solidFill>
                  </a:tcPr>
                </a:tc>
              </a:tr>
              <a:tr h="428936"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000000"/>
                          </a:solidFill>
                          <a:latin typeface="Microsoft JhengHei"/>
                        </a:rPr>
                        <a:t>Sorting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Microsoft JhengHei"/>
                        </a:rPr>
                        <a:t>puppy/agent.py — LLMAgent.step() 開頭(官方註解 1~3)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Microsoft JhengHei"/>
                        </a:rPr>
                        <a:t>依資料型態把股價、新聞、財報拆開:文字送進記憶路徑,股價送去 Observe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</a:tr>
              <a:tr h="428936"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000000"/>
                          </a:solidFill>
                          <a:latin typeface="Microsoft JhengHei"/>
                        </a:rPr>
                        <a:t>Profiling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Microsoft JhengHei"/>
                        </a:rPr>
                        <a:t>puppy/agent.py(character_string 屬性)＋ config/*.toml 的 character_string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Microsoft JhengHei"/>
                        </a:rPr>
                        <a:t>Agent 一建立就把設定檔這段文字讀進來存成屬性,全程不變;只給 Retrieve 當查詢字串用,不會出現在 Reflect 的提示詞裡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</a:tr>
              <a:tr h="428936"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000000"/>
                          </a:solidFill>
                          <a:latin typeface="Microsoft JhengHei"/>
                        </a:rPr>
                        <a:t>Summarize(離線)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Microsoft JhengHei"/>
                        </a:rPr>
                        <a:t>data-pipeline/03-summary.py ＋ 03-model_wrapper.py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Microsoft JhengHei"/>
                        </a:rPr>
                        <a:t>把整篇新聞/財報丟給 LLM,請它壓縮成約 200 tokens 的摘要,存回 CSV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</a:tr>
              <a:tr h="428936"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000000"/>
                          </a:solidFill>
                          <a:latin typeface="Microsoft JhengHei"/>
                        </a:rPr>
                        <a:t>清理／情緒標註(離線)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Microsoft JhengHei"/>
                        </a:rPr>
                        <a:t>data-pipeline/02-Raw_News_Data_Cleaning.py ＋ 05-get_sentiment_by_ticker.py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Microsoft JhengHei"/>
                        </a:rPr>
                        <a:t>02 先清掉重複報導、制式前綴等雜訊;05 用 VADER(規則詞典)或 FinBERT(金融專用模型)幫每則新聞標正負中立傾向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</a:tr>
              <a:tr h="428936"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000000"/>
                          </a:solidFill>
                          <a:latin typeface="Microsoft JhengHei"/>
                        </a:rPr>
                        <a:t>Observe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Microsoft JhengHei"/>
                        </a:rPr>
                        <a:t>puppy/portfolio.py — get_moment(moment_window=3)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Microsoft JhengHei"/>
                        </a:rPr>
                        <a:t>把最近 3 天每天的收盤價差加總,大於零記漲、小於零記跌,轉成一句英文敘述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</a:tr>
              <a:tr h="428936"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000000"/>
                          </a:solidFill>
                          <a:latin typeface="Microsoft JhengHei"/>
                        </a:rPr>
                        <a:t>Layered Memory /</a:t>
                      </a:r>
                    </a:p>
                    <a:p>
                      <a:pPr algn="l"/>
                      <a:r>
                        <a:rPr sz="880" b="1">
                          <a:solidFill>
                            <a:srgbClr val="000000"/>
                          </a:solidFill>
                          <a:latin typeface="Microsoft JhengHei"/>
                        </a:rPr>
                        <a:t>Retrieve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Microsoft JhengHei"/>
                        </a:rPr>
                        <a:t>puppy/memorydb.py(MemoryDB、BrainDB)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Microsoft JhengHei"/>
                        </a:rPr>
                        <a:t>MemoryDB 管理單一層的存取與分數;BrainDB 把淺/中/深/反思 4 個 MemoryDB 包在一起,對外統一查詢跟寫入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</a:tr>
              <a:tr h="428936"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000000"/>
                          </a:solidFill>
                          <a:latin typeface="Microsoft JhengHei"/>
                        </a:rPr>
                        <a:t>分數計算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Microsoft JhengHei"/>
                        </a:rPr>
                        <a:t>puppy/memory_functions/(decay.py、importance_score.py、recency.py、compound_score.py、access_counter.py)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Microsoft JhengHei"/>
                        </a:rPr>
                        <a:t>importance_score.py 決定新記憶誕生時的抽籤機率;decay.py 算每天的指數衰退;access_counter.py 算加減分;compound_score.py 把兩個分數合成排序用的分數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</a:tr>
              <a:tr h="428936"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000000"/>
                          </a:solidFill>
                          <a:latin typeface="Microsoft JhengHei"/>
                        </a:rPr>
                        <a:t>Reflect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Microsoft JhengHei"/>
                        </a:rPr>
                        <a:t>puppy/reflection.py ＋ puppy/chat.py(LLM 呼叫)＋ puppy/prompts.py(提示詞模板)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Microsoft JhengHei"/>
                        </a:rPr>
                        <a:t>組合提示詞(記憶內容＋動能敘述),呼叫 LLM,guardrails 驗證回傳格式,LLM 自己決定引用了哪些記憶編號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</a:tr>
              <a:tr h="428936"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000000"/>
                          </a:solidFill>
                          <a:latin typeface="Microsoft JhengHei"/>
                        </a:rPr>
                        <a:t>Decision-making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Microsoft JhengHei"/>
                        </a:rPr>
                        <a:t>puppy/agent.py 的 _construct_train_actions／__process_test_action／_portfolio_step／_update_access_counter ＋ puppy/portfolio.py 的 get_feedback_response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Microsoft JhengHei"/>
                        </a:rPr>
                        <a:t>四個函式接力:先決定買賣方向 → 寫入持倉 → 依最近實際損益回饋剛引用的記憶 → 呼叫 brain.step() 讓記憶系統過完這一天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</a:tr>
              <a:tr h="428936"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000000"/>
                          </a:solidFill>
                          <a:latin typeface="Microsoft JhengHei"/>
                        </a:rPr>
                        <a:t>資料下載與打包(離線)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Microsoft JhengHei"/>
                        </a:rPr>
                        <a:t>data-pipeline/01_*.py ～ 04-data_pipeline.py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Microsoft JhengHei"/>
                        </a:rPr>
                        <a:t>01 系列分別向 SEC API、Alpaca News API 抓原始資料;04 再用 yfinance 補股價,全部合併打包成 env_data.pkl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</a:tr>
              <a:tr h="428936">
                <a:tc>
                  <a:txBody>
                    <a:bodyPr wrap="square"/>
                    <a:lstStyle/>
                    <a:p>
                      <a:pPr algn="l"/>
                      <a:r>
                        <a:rPr sz="880" b="1">
                          <a:solidFill>
                            <a:srgbClr val="000000"/>
                          </a:solidFill>
                          <a:latin typeface="Microsoft JhengHei"/>
                        </a:rPr>
                        <a:t>進入點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Microsoft JhengHei"/>
                        </a:rPr>
                        <a:t>run.py — 建立 MarketEnvironment 與 LLMAgent,逐日呼叫 step()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000000"/>
                          </a:solidFill>
                          <a:latin typeface="Microsoft JhengHei"/>
                        </a:rPr>
                        <a:t>讀 config.toml,建立環境與 Agent;while 迴圈裡逐日拿資料、跑完整套模組,每天存一次檔避免 API 中斷要重跑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2636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02020"/>
                </a:solidFill>
                <a:latin typeface="Microsoft JhengHei"/>
              </a:rPr>
              <a:t>範例:記憶的加分/扣分,其實來自實際損益,不是單純被引用就加分(portfolio.py)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583679"/>
            <a:ext cx="7589520" cy="1600200"/>
          </a:xfrm>
          <a:prstGeom prst="rect">
            <a:avLst/>
          </a:prstGeom>
          <a:solidFill>
            <a:srgbClr val="27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720840"/>
            <a:ext cx="7223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D8DEE5"/>
                </a:solidFill>
                <a:latin typeface="Microsoft JhengHei"/>
              </a:rPr>
              <a:t>temp = cumsum((diff(price) * shares_held)[-lookback_window:])[-1]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D8DEE5"/>
                </a:solidFill>
                <a:latin typeface="Microsoft JhengHei"/>
              </a:rPr>
              <a:t>if temp &gt; 0:  feedback = 1    # 這段期間實際有賺錢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D8DEE5"/>
                </a:solidFill>
                <a:latin typeface="Microsoft JhengHei"/>
              </a:rPr>
              <a:t>elif temp &lt; 0: feedback = -1  # 這段期間實際賠錢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D8DEE5"/>
                </a:solidFill>
                <a:latin typeface="Microsoft JhengHei"/>
              </a:rPr>
              <a:t>else:          feedback = 0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D8DEE5"/>
                </a:solidFill>
                <a:latin typeface="Microsoft JhengHe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D8DEE5"/>
                </a:solidFill>
                <a:latin typeface="Microsoft JhengHei"/>
              </a:rPr>
              <a:t># access_counter += feedback  (可能是負的!)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D8DEE5"/>
                </a:solidFill>
                <a:latin typeface="Microsoft JhengHei"/>
              </a:rPr>
              <a:t># importance_score += access_counter *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6583679"/>
            <a:ext cx="347472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202020"/>
                </a:solidFill>
                <a:latin typeface="Microsoft JhengHei"/>
              </a:rPr>
              <a:t>回顧最近幾天(預設 7 天)投資組合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202020"/>
                </a:solidFill>
                <a:latin typeface="Microsoft JhengHei"/>
              </a:rPr>
              <a:t>的實際損益,賺錢才加分、賠錢反而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202020"/>
                </a:solidFill>
                <a:latin typeface="Microsoft JhengHei"/>
              </a:rPr>
              <a:t>扣分——不是「被引用就一定加分」,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202020"/>
                </a:solidFill>
                <a:latin typeface="Microsoft JhengHei"/>
              </a:rPr>
              <a:t>是用事後的真實結果,回頭校正這些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202020"/>
                </a:solidFill>
                <a:latin typeface="Microsoft JhengHei"/>
              </a:rPr>
              <a:t>記憶到底值不值得信任。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02020"/>
                </a:solidFill>
                <a:latin typeface="Microsoft JhengHei"/>
              </a:rPr>
              <a:t>論文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48640"/>
            <a:ext cx="11247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02020"/>
                </a:solidFill>
                <a:latin typeface="Microsoft JhengHei"/>
              </a:rPr>
              <a:t>FinMem: A Performance-Enhanced LLM Trading Agent with Layered Memory and Character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371600"/>
            <a:ext cx="11247120" cy="10515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202020"/>
                </a:solidFill>
                <a:latin typeface="Microsoft JhengHei"/>
              </a:rPr>
              <a:t>作者(9 位): </a:t>
            </a:r>
            <a:r>
              <a:rPr sz="1000" b="0">
                <a:solidFill>
                  <a:srgbClr val="202020"/>
                </a:solidFill>
                <a:latin typeface="Microsoft JhengHei"/>
              </a:rPr>
              <a:t>Yangyang Yu、Haohang Li、Zhi Chen、Yuechen Jiang、Yang Li、Denghui Zhang、Rong Liu、Jordan W. Suchow、Khaldoun Khashanah</a:t>
            </a:r>
          </a:p>
          <a:p>
            <a:pPr algn="l">
              <a:lnSpc>
                <a:spcPct val="130000"/>
              </a:lnSpc>
            </a:pPr>
            <a:r>
              <a:rPr sz="1000" b="1">
                <a:solidFill>
                  <a:srgbClr val="202020"/>
                </a:solidFill>
                <a:latin typeface="Microsoft JhengHei"/>
              </a:rPr>
              <a:t>arXiv: </a:t>
            </a:r>
            <a:r>
              <a:rPr sz="1000" b="0">
                <a:solidFill>
                  <a:srgbClr val="202020"/>
                </a:solidFill>
                <a:latin typeface="Microsoft JhengHei"/>
              </a:rPr>
              <a:t>2311.13743(q-fin.CP)　　</a:t>
            </a:r>
            <a:r>
              <a:rPr sz="1000" b="1">
                <a:solidFill>
                  <a:srgbClr val="202020"/>
                </a:solidFill>
                <a:latin typeface="Microsoft JhengHei"/>
              </a:rPr>
              <a:t>GitHub: </a:t>
            </a:r>
            <a:r>
              <a:rPr sz="1000" b="0">
                <a:solidFill>
                  <a:srgbClr val="202020"/>
                </a:solidFill>
                <a:latin typeface="Microsoft JhengHei"/>
              </a:rPr>
              <a:t>941 stars、192 forks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6060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02020"/>
                </a:solidFill>
                <a:latin typeface="Microsoft JhengHei"/>
              </a:rPr>
              <a:t>發表與收錄紀錄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2926080"/>
          <a:ext cx="11247120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6675120"/>
                <a:gridCol w="320040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JhengHei"/>
                        </a:rPr>
                        <a:t>時間</a:t>
                      </a:r>
                    </a:p>
                  </a:txBody>
                  <a:tcPr marL="40000" marR="40000" marT="10000" marB="10000" anchor="ctr">
                    <a:solidFill>
                      <a:srgbClr val="2E3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JhengHei"/>
                        </a:rPr>
                        <a:t>場合</a:t>
                      </a:r>
                    </a:p>
                  </a:txBody>
                  <a:tcPr marL="40000" marR="40000" marT="10000" marB="10000" anchor="ctr">
                    <a:solidFill>
                      <a:srgbClr val="2E3B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JhengHei"/>
                        </a:rPr>
                        <a:t>狀態</a:t>
                      </a:r>
                    </a:p>
                  </a:txBody>
                  <a:tcPr marL="40000" marR="40000" marT="10000" marB="10000" anchor="ctr">
                    <a:solidFill>
                      <a:srgbClr val="2E3B4E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icrosoft JhengHei"/>
                        </a:rPr>
                        <a:t>2024-01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Microsoft JhengHei"/>
                        </a:rPr>
                        <a:t>AAAI Spring Symposium on Human-Like Learning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Microsoft JhengHei"/>
                        </a:rPr>
                        <a:t>延伸摘要入選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icrosoft JhengHei"/>
                        </a:rPr>
                        <a:t>2024-03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Microsoft JhengHei"/>
                        </a:rPr>
                        <a:t>ICLR Workshop on LLM Agents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Microsoft JhengHei"/>
                        </a:rPr>
                        <a:t>論文獲接受</a:t>
                      </a:r>
                    </a:p>
                  </a:txBody>
                  <a:tcPr marL="40000" marR="40000" marT="10000" marB="10000" anchor="ctr">
                    <a:solidFill>
                      <a:srgbClr val="F4F6F8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000000"/>
                          </a:solidFill>
                          <a:latin typeface="Microsoft JhengHei"/>
                        </a:rPr>
                        <a:t>2024-06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Microsoft JhengHei"/>
                        </a:rPr>
                        <a:t>IJCAI 2024 FinLLM Challenge — Task 3 Single Stock Trading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00000"/>
                          </a:solidFill>
                          <a:latin typeface="Microsoft JhengHei"/>
                        </a:rPr>
                        <a:t>參賽並完成挑戰(共 12 隊參與)</a:t>
                      </a:r>
                    </a:p>
                  </a:txBody>
                  <a:tcPr marL="40000" marR="40000" marT="10000" marB="1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44348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02020"/>
                </a:solidFill>
                <a:latin typeface="Microsoft JhengHei"/>
              </a:rPr>
              <a:t>論文原文定義的三大核心模組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754880"/>
            <a:ext cx="112471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202020"/>
                </a:solidFill>
                <a:latin typeface="Microsoft JhengHei"/>
              </a:rPr>
              <a:t>論文摘要裡明確把 FinMem 分成三個核心模組:</a:t>
            </a:r>
          </a:p>
          <a:p>
            <a:pPr algn="l">
              <a:lnSpc>
                <a:spcPct val="135000"/>
              </a:lnSpc>
            </a:pPr>
            <a:r>
              <a:rPr sz="1000" b="1">
                <a:solidFill>
                  <a:srgbClr val="2E6DA4"/>
                </a:solidFill>
                <a:latin typeface="Microsoft JhengHei"/>
              </a:rPr>
              <a:t>Profiling</a:t>
            </a:r>
            <a:r>
              <a:rPr sz="1000" b="0">
                <a:solidFill>
                  <a:srgbClr val="202020"/>
                </a:solidFill>
                <a:latin typeface="Microsoft JhengHei"/>
              </a:rPr>
              <a:t> — 勾勒 Agent 的特質(對應本簡報的 Profiling)</a:t>
            </a:r>
          </a:p>
          <a:p>
            <a:pPr algn="l">
              <a:lnSpc>
                <a:spcPct val="135000"/>
              </a:lnSpc>
            </a:pPr>
            <a:r>
              <a:rPr sz="1000" b="1">
                <a:solidFill>
                  <a:srgbClr val="B07020"/>
                </a:solidFill>
                <a:latin typeface="Microsoft JhengHei"/>
              </a:rPr>
              <a:t>Memory</a:t>
            </a:r>
            <a:r>
              <a:rPr sz="1000" b="0">
                <a:solidFill>
                  <a:srgbClr val="202020"/>
                </a:solidFill>
                <a:latin typeface="Microsoft JhengHei"/>
              </a:rPr>
              <a:t> — 分層處理,協助 Agent 吸收具真實層級結構的財務資料(對應 Layered Memory＋Retrieve)</a:t>
            </a:r>
          </a:p>
          <a:p>
            <a:pPr algn="l">
              <a:lnSpc>
                <a:spcPct val="135000"/>
              </a:lnSpc>
            </a:pPr>
            <a:r>
              <a:rPr sz="1000" b="1">
                <a:solidFill>
                  <a:srgbClr val="309040"/>
                </a:solidFill>
                <a:latin typeface="Microsoft JhengHei"/>
              </a:rPr>
              <a:t>Decision-making</a:t>
            </a:r>
            <a:r>
              <a:rPr sz="1000" b="0">
                <a:solidFill>
                  <a:srgbClr val="202020"/>
                </a:solidFill>
                <a:latin typeface="Microsoft JhengHei"/>
              </a:rPr>
              <a:t> — 把記憶得到的洞見轉換成投資決策(對應 Reflect＋Decision-making)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30936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02020"/>
                </a:solidFill>
                <a:latin typeface="Microsoft JhengHei"/>
              </a:rPr>
              <a:t>研究發現(論文摘要精簡)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6629400"/>
            <a:ext cx="112471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202020"/>
                </a:solidFill>
                <a:latin typeface="Microsoft JhengHei"/>
              </a:rPr>
              <a:t>在可擴充的真實股票與基金資料集上,FinMem 的交易績效領先其他演算法型 Agent;論文作者接著調整Agent 對記憶的「感知範圍」(要看多近或多遠的記憶),進一步提升績效。論文主張,FinMem 分層記憶的設計貼近人類交易員的認知結構,可解釋性高,且能保留超出人類記憶負荷的關鍵資訊。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02020"/>
                </a:solidFill>
                <a:latin typeface="Microsoft JhengHei"/>
              </a:rPr>
              <a:t>實際應用場景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30352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02020"/>
                </a:solidFill>
                <a:latin typeface="Microsoft JhengHei"/>
              </a:rPr>
              <a:t>官方以 TSLA(特斯拉)為展示標的,個股可經 config 檔案更換,整套流程分成「離線準備資料」跟「每日模擬交易」兩段。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C03030"/>
                </a:solidFill>
                <a:latin typeface="Microsoft JhengHei"/>
              </a:rPr>
              <a:t>這整套系統是研究用的回測框架,</a:t>
            </a:r>
            <a:r>
              <a:rPr sz="1050" b="0">
                <a:solidFill>
                  <a:srgbClr val="202020"/>
                </a:solidFill>
                <a:latin typeface="Microsoft JhengHei"/>
              </a:rPr>
              <a:t>從頭到尾沒有連接任何真實券商或交易所,「交易決策」只會更新內部模擬的持倉紀錄,不會真的下單。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325880"/>
            <a:ext cx="2084831" cy="777240"/>
          </a:xfrm>
          <a:prstGeom prst="roundRect">
            <a:avLst/>
          </a:prstGeom>
          <a:solidFill>
            <a:srgbClr val="EFEFE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869" b="1">
                <a:solidFill>
                  <a:srgbClr val="202020"/>
                </a:solidFill>
                <a:latin typeface="Microsoft JhengHei"/>
              </a:rPr>
              <a:t>01 下載原始資料</a:t>
            </a:r>
          </a:p>
          <a:p>
            <a:pPr algn="ctr"/>
            <a:r>
              <a:rPr sz="869" b="1">
                <a:solidFill>
                  <a:srgbClr val="202020"/>
                </a:solidFill>
                <a:latin typeface="Microsoft JhengHei"/>
              </a:rPr>
              <a:t>(新聞/10-K/10-Q)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23160" y="1581912"/>
            <a:ext cx="128015" cy="256032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9464" y="1325880"/>
            <a:ext cx="2084831" cy="777240"/>
          </a:xfrm>
          <a:prstGeom prst="roundRect">
            <a:avLst/>
          </a:prstGeom>
          <a:solidFill>
            <a:srgbClr val="EFEFE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869" b="1">
                <a:solidFill>
                  <a:srgbClr val="202020"/>
                </a:solidFill>
                <a:latin typeface="Microsoft JhengHei"/>
              </a:rPr>
              <a:t>02 清理新聞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672583" y="1581912"/>
            <a:ext cx="128015" cy="256032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18888" y="1325880"/>
            <a:ext cx="2084831" cy="777240"/>
          </a:xfrm>
          <a:prstGeom prst="roundRect">
            <a:avLst/>
          </a:prstGeom>
          <a:solidFill>
            <a:srgbClr val="EFEFE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869" b="1">
                <a:solidFill>
                  <a:srgbClr val="202020"/>
                </a:solidFill>
                <a:latin typeface="Microsoft JhengHei"/>
              </a:rPr>
              <a:t>03 摘要＋情緒標註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922007" y="1581912"/>
            <a:ext cx="128015" cy="256032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68312" y="1325880"/>
            <a:ext cx="2084831" cy="777240"/>
          </a:xfrm>
          <a:prstGeom prst="roundRect">
            <a:avLst/>
          </a:prstGeom>
          <a:solidFill>
            <a:srgbClr val="EFEFE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869" b="1">
                <a:solidFill>
                  <a:srgbClr val="202020"/>
                </a:solidFill>
                <a:latin typeface="Microsoft JhengHei"/>
              </a:rPr>
              <a:t>04 打包成 pkl</a:t>
            </a:r>
          </a:p>
          <a:p>
            <a:pPr algn="ctr"/>
            <a:r>
              <a:rPr sz="869" b="1">
                <a:solidFill>
                  <a:srgbClr val="202020"/>
                </a:solidFill>
                <a:latin typeface="Microsoft JhengHei"/>
              </a:rPr>
              <a:t>(含股價)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71432" y="1581912"/>
            <a:ext cx="128015" cy="256032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17736" y="1325880"/>
            <a:ext cx="2084831" cy="777240"/>
          </a:xfrm>
          <a:prstGeom prst="roundRect">
            <a:avLst/>
          </a:prstGeom>
          <a:solidFill>
            <a:srgbClr val="EFEFE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869" b="1">
                <a:solidFill>
                  <a:srgbClr val="202020"/>
                </a:solidFill>
                <a:latin typeface="Microsoft JhengHei"/>
              </a:rPr>
              <a:t>05 加情緒分數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1945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808080"/>
                </a:solidFill>
                <a:latin typeface="Microsoft JhengHei"/>
              </a:rPr>
              <a:t>↑ data-pipeline/ 離線資料前處理(模擬開始前跑一次)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2651760"/>
            <a:ext cx="5440680" cy="868680"/>
          </a:xfrm>
          <a:prstGeom prst="roundRect">
            <a:avLst/>
          </a:prstGeom>
          <a:solidFill>
            <a:srgbClr val="DDE8F5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1000" b="1">
                <a:solidFill>
                  <a:srgbClr val="202020"/>
                </a:solidFill>
                <a:latin typeface="Microsoft JhengHei"/>
              </a:rPr>
              <a:t>Train 模式</a:t>
            </a:r>
          </a:p>
          <a:p>
            <a:pPr algn="ctr"/>
            <a:r>
              <a:rPr sz="1000" b="1">
                <a:solidFill>
                  <a:srgbClr val="202020"/>
                </a:solidFill>
                <a:latin typeface="Microsoft JhengHei"/>
              </a:rPr>
              <a:t>讓 Agent 逐日累積記憶與經驗,不下真實交易單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651760"/>
            <a:ext cx="5440680" cy="868680"/>
          </a:xfrm>
          <a:prstGeom prst="roundRect">
            <a:avLst/>
          </a:prstGeom>
          <a:solidFill>
            <a:srgbClr val="D9EAD9"/>
          </a:solidFill>
          <a:ln w="12700">
            <a:solidFill>
              <a:srgbClr val="409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1000" b="1">
                <a:solidFill>
                  <a:srgbClr val="202020"/>
                </a:solidFill>
                <a:latin typeface="Microsoft JhengHei"/>
              </a:rPr>
              <a:t>Test 模式</a:t>
            </a:r>
          </a:p>
          <a:p>
            <a:pPr algn="ctr"/>
            <a:r>
              <a:rPr sz="1000" b="1">
                <a:solidFill>
                  <a:srgbClr val="202020"/>
                </a:solidFill>
                <a:latin typeface="Microsoft JhengHei"/>
              </a:rPr>
              <a:t>用訓練好的 Agent 實際模擬交易,記錄逐日決策與績效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794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02020"/>
                </a:solidFill>
                <a:latin typeface="Microsoft JhengHei"/>
              </a:rPr>
              <a:t>實際輸出範例(TSLA,2023-01-24)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4114800"/>
            <a:ext cx="11247120" cy="1417320"/>
          </a:xfrm>
          <a:prstGeom prst="roundRect">
            <a:avLst/>
          </a:prstGeom>
          <a:solidFill>
            <a:srgbClr val="FBF0C8"/>
          </a:solidFill>
          <a:ln w="12700">
            <a:solidFill>
              <a:srgbClr val="C0A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233672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02020"/>
                </a:solidFill>
                <a:latin typeface="Microsoft JhengHei"/>
              </a:rPr>
              <a:t>交易決策: </a:t>
            </a:r>
            <a:r>
              <a:rPr sz="1000" b="1">
                <a:solidFill>
                  <a:srgbClr val="C03030"/>
                </a:solidFill>
                <a:latin typeface="Microsoft JhengHei"/>
              </a:rPr>
              <a:t>買進(Buy)</a:t>
            </a:r>
          </a:p>
          <a:p>
            <a:pPr algn="l">
              <a:lnSpc>
                <a:spcPct val="120000"/>
              </a:lnSpc>
            </a:pPr>
            <a:r>
              <a:rPr sz="950" b="1">
                <a:solidFill>
                  <a:srgbClr val="202020"/>
                </a:solidFill>
                <a:latin typeface="Microsoft JhengHei"/>
              </a:rPr>
              <a:t>理由: </a:t>
            </a:r>
            <a:r>
              <a:rPr sz="950" b="0">
                <a:solidFill>
                  <a:srgbClr val="202020"/>
                </a:solidFill>
                <a:latin typeface="Microsoft JhengHei"/>
              </a:rPr>
              <a:t>根據淺層與中層記憶訊息,分析師認為目前的低價是買進機會(記憶編號 3357、3404)。深層記憶顯示 Tesla 縮減產能是潛在風險(3417),但反思層資訊顯示過去 10 年財務表現穩健(1)。此外,投資人目前僅持有 1 股 TSLA,加碼買進未來可能有不錯的報酬。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56692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02020"/>
                </a:solidFill>
                <a:latin typeface="Microsoft JhengHei"/>
              </a:rPr>
              <a:t>績效怎麼評估(data-pipeline/07-metrics.py、08-Wilcoxon-Test.py)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5989320"/>
            <a:ext cx="2212848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869" b="1">
                <a:solidFill>
                  <a:srgbClr val="202020"/>
                </a:solidFill>
                <a:latin typeface="Microsoft JhengHei"/>
              </a:rPr>
              <a:t>Sharpe Ratio</a:t>
            </a:r>
          </a:p>
          <a:p>
            <a:pPr algn="ctr"/>
            <a:r>
              <a:rPr sz="869" b="1">
                <a:solidFill>
                  <a:srgbClr val="202020"/>
                </a:solidFill>
                <a:latin typeface="Microsoft JhengHei"/>
              </a:rPr>
              <a:t>風險調整後報酬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78608" y="5989320"/>
            <a:ext cx="2212848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869" b="1">
                <a:solidFill>
                  <a:srgbClr val="202020"/>
                </a:solidFill>
                <a:latin typeface="Microsoft JhengHei"/>
              </a:rPr>
              <a:t>Cumulative Return</a:t>
            </a:r>
          </a:p>
          <a:p>
            <a:pPr algn="ctr"/>
            <a:r>
              <a:rPr sz="869" b="1">
                <a:solidFill>
                  <a:srgbClr val="202020"/>
                </a:solidFill>
                <a:latin typeface="Microsoft JhengHei"/>
              </a:rPr>
              <a:t>累積報酬率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37175" y="5989320"/>
            <a:ext cx="2212848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869" b="1">
                <a:solidFill>
                  <a:srgbClr val="202020"/>
                </a:solidFill>
                <a:latin typeface="Microsoft JhengHei"/>
              </a:rPr>
              <a:t>Max Drawdown</a:t>
            </a:r>
          </a:p>
          <a:p>
            <a:pPr algn="ctr"/>
            <a:r>
              <a:rPr sz="869" b="1">
                <a:solidFill>
                  <a:srgbClr val="202020"/>
                </a:solidFill>
                <a:latin typeface="Microsoft JhengHei"/>
              </a:rPr>
              <a:t>最大回撤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95743" y="5989320"/>
            <a:ext cx="2212848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869" b="1">
                <a:solidFill>
                  <a:srgbClr val="202020"/>
                </a:solidFill>
                <a:latin typeface="Microsoft JhengHei"/>
              </a:rPr>
              <a:t>Annualized Volatility</a:t>
            </a:r>
          </a:p>
          <a:p>
            <a:pPr algn="ctr"/>
            <a:r>
              <a:rPr sz="869" b="1">
                <a:solidFill>
                  <a:srgbClr val="202020"/>
                </a:solidFill>
                <a:latin typeface="Microsoft JhengHei"/>
              </a:rPr>
              <a:t>年化波動度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54311" y="5989320"/>
            <a:ext cx="2212848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869" b="1">
                <a:solidFill>
                  <a:srgbClr val="202020"/>
                </a:solidFill>
                <a:latin typeface="Microsoft JhengHei"/>
              </a:rPr>
              <a:t>Wilcoxon Test</a:t>
            </a:r>
          </a:p>
          <a:p>
            <a:pPr algn="ctr"/>
            <a:r>
              <a:rPr sz="869" b="1">
                <a:solidFill>
                  <a:srgbClr val="202020"/>
                </a:solidFill>
                <a:latin typeface="Microsoft JhengHei"/>
              </a:rPr>
              <a:t>跟對照策略比較</a:t>
            </a:r>
          </a:p>
          <a:p>
            <a:pPr algn="ctr"/>
            <a:r>
              <a:rPr sz="869" b="1">
                <a:solidFill>
                  <a:srgbClr val="202020"/>
                </a:solidFill>
                <a:latin typeface="Microsoft JhengHei"/>
              </a:rPr>
              <a:t>是否顯著較優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70408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202020"/>
                </a:solidFill>
                <a:latin typeface="Microsoft JhengHei"/>
              </a:rPr>
              <a:t>實際跑起來的樣子: </a:t>
            </a:r>
            <a:r>
              <a:rPr sz="1050" b="0">
                <a:solidFill>
                  <a:srgbClr val="202020"/>
                </a:solidFill>
                <a:latin typeface="Microsoft JhengHei"/>
              </a:rPr>
              <a:t>官方附有示範影片 FinMem.mp4,展示 Agent 逐日讀取資料、檢索記憶、產出決策的完整過程;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202020"/>
                </a:solidFill>
                <a:latin typeface="Microsoft JhengHei"/>
              </a:rPr>
              <a:t>06-Visualize-results.py 則會把累積報酬畫成圖,跟單純買進持有(buy-and-hold)策略比較。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