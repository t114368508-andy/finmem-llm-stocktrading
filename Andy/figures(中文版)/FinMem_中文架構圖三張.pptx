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1887200" cy="84124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02020"/>
                </a:solidFill>
                <a:latin typeface="Microsoft JhengHei"/>
              </a:rPr>
              <a:t>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914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02020"/>
                </a:solidFill>
                <a:latin typeface="Microsoft JhengHei"/>
              </a:rPr>
              <a:t>(2)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502920"/>
            <a:ext cx="141732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02020"/>
                </a:solidFill>
                <a:latin typeface="Microsoft JhengHei"/>
              </a:rPr>
              <a:t>多來源
輸入資訊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82980" y="1005840"/>
            <a:ext cx="0" cy="292608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" y="1298448"/>
            <a:ext cx="14173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98448"/>
            <a:ext cx="1417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02020"/>
                </a:solidFill>
                <a:latin typeface="Microsoft JhengHei"/>
              </a:rPr>
              <a:t>分類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1709928"/>
            <a:ext cx="0" cy="256032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4360" y="1828800"/>
            <a:ext cx="777240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1828800"/>
            <a:ext cx="0" cy="13716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37160" y="1965960"/>
            <a:ext cx="7772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196596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02020"/>
                </a:solidFill>
                <a:latin typeface="Microsoft JhengHei"/>
              </a:rPr>
              <a:t>摘要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1965960"/>
            <a:ext cx="7772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196596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02020"/>
                </a:solidFill>
                <a:latin typeface="Microsoft JhengHei"/>
              </a:rPr>
              <a:t>觀察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1207" y="2423160"/>
            <a:ext cx="0" cy="27432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35607" y="2423160"/>
            <a:ext cx="0" cy="178308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39" y="2697480"/>
            <a:ext cx="8686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39" y="2697480"/>
            <a:ext cx="868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02020"/>
                </a:solidFill>
                <a:latin typeface="Microsoft JhengHei"/>
              </a:rPr>
              <a:t>分層
長期記憶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2697480"/>
            <a:ext cx="777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2697480"/>
            <a:ext cx="777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02020"/>
                </a:solidFill>
                <a:latin typeface="Microsoft JhengHei"/>
              </a:rPr>
              <a:t>金融市場
事實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1207" y="3291840"/>
            <a:ext cx="0" cy="27432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439" y="3566160"/>
            <a:ext cx="8686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39" y="356616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02020"/>
                </a:solidFill>
                <a:latin typeface="Microsoft JhengHei"/>
              </a:rPr>
              <a:t>檢索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1207" y="4023360"/>
            <a:ext cx="0" cy="27432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39" y="4297680"/>
            <a:ext cx="868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39" y="4297680"/>
            <a:ext cx="868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02020"/>
                </a:solidFill>
                <a:latin typeface="Microsoft JhengHei"/>
              </a:rPr>
              <a:t>各層的
重要記憶事件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1207" y="4937760"/>
            <a:ext cx="576073" cy="32004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143000" y="4206240"/>
            <a:ext cx="292607" cy="1078992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7200" y="5285232"/>
            <a:ext cx="10515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285232"/>
            <a:ext cx="1051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02020"/>
                </a:solidFill>
                <a:latin typeface="Microsoft JhengHei"/>
              </a:rPr>
              <a:t>反思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8408" y="5742432"/>
            <a:ext cx="0" cy="292608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28600" y="6035040"/>
            <a:ext cx="150876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" y="6035040"/>
            <a:ext cx="1508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02020"/>
                </a:solidFill>
                <a:latin typeface="Microsoft JhengHei"/>
              </a:rPr>
              <a:t>投資決策
與反思結果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5029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020"/>
                </a:solidFill>
                <a:latin typeface="Microsoft JhengHei"/>
              </a:rPr>
              <a:t>LLMs</a:t>
            </a:r>
          </a:p>
        </p:txBody>
      </p:sp>
      <p:sp>
        <p:nvSpPr>
          <p:cNvPr id="36" name="Oval 35"/>
          <p:cNvSpPr/>
          <p:nvPr/>
        </p:nvSpPr>
        <p:spPr>
          <a:xfrm>
            <a:off x="4937759" y="530352"/>
            <a:ext cx="201168" cy="201168"/>
          </a:xfrm>
          <a:prstGeom prst="ellipse">
            <a:avLst/>
          </a:prstGeom>
          <a:solidFill>
            <a:srgbClr val="609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12079" y="530352"/>
            <a:ext cx="201168" cy="201168"/>
          </a:xfrm>
          <a:prstGeom prst="ellipse">
            <a:avLst/>
          </a:prstGeom>
          <a:solidFill>
            <a:srgbClr val="60A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486399" y="530352"/>
            <a:ext cx="201168" cy="201168"/>
          </a:xfrm>
          <a:prstGeom prst="ellipse">
            <a:avLst/>
          </a:prstGeom>
          <a:solidFill>
            <a:srgbClr val="C09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0" y="502920"/>
            <a:ext cx="5806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020"/>
                </a:solidFill>
                <a:latin typeface="Microsoft JhengHei"/>
              </a:rPr>
              <a:t>股票代號: </a:t>
            </a:r>
            <a:r>
              <a:rPr sz="1200" b="0">
                <a:solidFill>
                  <a:srgbClr val="202020"/>
                </a:solidFill>
                <a:latin typeface="Microsoft JhengHei"/>
              </a:rPr>
              <a:t>TSLA</a:t>
            </a:r>
            <a:r>
              <a:rPr sz="1200" b="1">
                <a:solidFill>
                  <a:srgbClr val="202020"/>
                </a:solidFill>
                <a:latin typeface="Microsoft JhengHei"/>
              </a:rPr>
              <a:t>　　目前日期: </a:t>
            </a:r>
            <a:r>
              <a:rPr sz="1200" b="0">
                <a:solidFill>
                  <a:srgbClr val="202020"/>
                </a:solidFill>
                <a:latin typeface="Microsoft JhengHei"/>
              </a:rPr>
              <a:t>2023-01-24</a:t>
            </a:r>
            <a:r>
              <a:rPr sz="1200" b="1">
                <a:solidFill>
                  <a:srgbClr val="202020"/>
                </a:solidFill>
                <a:latin typeface="Microsoft JhengHei"/>
              </a:rPr>
              <a:t>　　預測日期: </a:t>
            </a:r>
            <a:r>
              <a:rPr sz="1200" b="0">
                <a:solidFill>
                  <a:srgbClr val="202020"/>
                </a:solidFill>
                <a:latin typeface="Microsoft JhengHei"/>
              </a:rPr>
              <a:t>2023-01-25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914400"/>
            <a:ext cx="7589520" cy="1417320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70248" y="987552"/>
            <a:ext cx="7370064" cy="1271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02020"/>
                </a:solidFill>
                <a:latin typeface="Microsoft JhengHei"/>
              </a:rPr>
              <a:t>摘要 (Summarize):</a:t>
            </a:r>
          </a:p>
          <a:p>
            <a:pPr algn="l">
              <a:lnSpc>
                <a:spcPct val="115000"/>
              </a:lnSpc>
            </a:pPr>
            <a:r>
              <a:rPr sz="900" b="1">
                <a:solidFill>
                  <a:srgbClr val="202020"/>
                </a:solidFill>
                <a:latin typeface="Microsoft JhengHei"/>
              </a:rPr>
              <a:t>範圍: </a:t>
            </a:r>
            <a:r>
              <a:rPr sz="900" b="0">
                <a:solidFill>
                  <a:srgbClr val="202020"/>
                </a:solidFill>
                <a:latin typeface="Microsoft JhengHei"/>
              </a:rPr>
              <a:t>長篇文件,如公司 10-K、10-Q 報告;每日市場新聞</a:t>
            </a:r>
          </a:p>
          <a:p>
            <a:pPr algn="l">
              <a:lnSpc>
                <a:spcPct val="115000"/>
              </a:lnSpc>
            </a:pPr>
            <a:r>
              <a:rPr sz="900" b="1">
                <a:solidFill>
                  <a:srgbClr val="202020"/>
                </a:solidFill>
                <a:latin typeface="Microsoft JhengHei"/>
              </a:rPr>
              <a:t>提示詞: </a:t>
            </a:r>
            <a:r>
              <a:rPr sz="900" b="1">
                <a:solidFill>
                  <a:srgbClr val="C03030"/>
                </a:solidFill>
                <a:latin typeface="Microsoft JhengHei"/>
              </a:rPr>
              <a:t>1) 摘要內容: </a:t>
            </a:r>
            <a:r>
              <a:rPr sz="900" b="0">
                <a:solidFill>
                  <a:srgbClr val="202020"/>
                </a:solidFill>
                <a:latin typeface="Microsoft JhengHei"/>
              </a:rPr>
              <a:t>將提供的文件/文字摘要成 {1000} token 的精簡摘要,萃取關鍵投資洞見。</a:t>
            </a:r>
          </a:p>
          <a:p>
            <a:pPr algn="l">
              <a:lnSpc>
                <a:spcPct val="115000"/>
              </a:lnSpc>
            </a:pPr>
            <a:r>
              <a:rPr sz="900" b="1">
                <a:solidFill>
                  <a:srgbClr val="C03030"/>
                </a:solidFill>
                <a:latin typeface="Microsoft JhengHei"/>
              </a:rPr>
              <a:t>　　2) 摘要並解讀投資情緒: </a:t>
            </a:r>
            <a:r>
              <a:rPr sz="900" b="0">
                <a:solidFill>
                  <a:srgbClr val="202020"/>
                </a:solidFill>
                <a:latin typeface="Microsoft JhengHei"/>
              </a:rPr>
              <a:t>正面、中立、負面分數用於理解投資情緒、意見或情感,是文字落在各類別的比例,加總為 1……例如,公司的正面新聞可能提升投資人情緒,鼓勵更多買進行為……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60520" y="2441448"/>
            <a:ext cx="7589520" cy="1600200"/>
          </a:xfrm>
          <a:prstGeom prst="roundRect">
            <a:avLst/>
          </a:prstGeom>
          <a:solidFill>
            <a:srgbClr val="F6D9D9"/>
          </a:solidFill>
          <a:ln w="12700">
            <a:solidFill>
              <a:srgbClr val="B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70248" y="2514600"/>
            <a:ext cx="7370064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02020"/>
                </a:solidFill>
                <a:latin typeface="Microsoft JhengHei"/>
              </a:rPr>
              <a:t>觀察 (Observe):</a:t>
            </a:r>
          </a:p>
          <a:p>
            <a:pPr algn="l">
              <a:lnSpc>
                <a:spcPct val="115000"/>
              </a:lnSpc>
            </a:pPr>
            <a:r>
              <a:rPr sz="900" b="1">
                <a:solidFill>
                  <a:srgbClr val="202020"/>
                </a:solidFill>
                <a:latin typeface="Microsoft JhengHei"/>
              </a:rPr>
              <a:t>範圍: </a:t>
            </a:r>
            <a:r>
              <a:rPr sz="900" b="0">
                <a:solidFill>
                  <a:srgbClr val="202020"/>
                </a:solidFill>
                <a:latin typeface="Microsoft JhengHei"/>
              </a:rPr>
              <a:t>依調整後每日收盤價計算的股票趨勢變化</a:t>
            </a:r>
          </a:p>
          <a:p>
            <a:pPr algn="l">
              <a:lnSpc>
                <a:spcPct val="115000"/>
              </a:lnSpc>
            </a:pPr>
            <a:r>
              <a:rPr sz="900" b="1">
                <a:solidFill>
                  <a:srgbClr val="202020"/>
                </a:solidFill>
                <a:latin typeface="Microsoft JhengHei"/>
              </a:rPr>
              <a:t>提示詞: </a:t>
            </a:r>
            <a:r>
              <a:rPr sz="900" b="0">
                <a:solidFill>
                  <a:srgbClr val="202020"/>
                </a:solidFill>
                <a:latin typeface="Microsoft JhengHei"/>
              </a:rPr>
              <a:t>以下資訊摘要了過去幾天的股價波動,也就是股票的「動能」。動能的概念是:過去表現好的證券會持續表現好,反之表現差的證券會持續表現差。</a:t>
            </a:r>
          </a:p>
          <a:p>
            <a:pPr algn="l">
              <a:lnSpc>
                <a:spcPct val="115000"/>
              </a:lnSpc>
            </a:pPr>
            <a:r>
              <a:rPr sz="900" b="1">
                <a:solidFill>
                  <a:srgbClr val="C03030"/>
                </a:solidFill>
                <a:latin typeface="Microsoft JhengHei"/>
              </a:rPr>
              <a:t>　- 訓練模式: </a:t>
            </a:r>
            <a:r>
              <a:rPr sz="900" b="0">
                <a:solidFill>
                  <a:srgbClr val="202020"/>
                </a:solidFill>
                <a:latin typeface="Microsoft JhengHei"/>
              </a:rPr>
              <a:t>在 {2023-01-24} 這天,{TSLA} 的動能(以當日與隔日的價差表示)上漲了 {$5.4}。</a:t>
            </a:r>
          </a:p>
          <a:p>
            <a:pPr algn="l">
              <a:lnSpc>
                <a:spcPct val="115000"/>
              </a:lnSpc>
            </a:pPr>
            <a:r>
              <a:rPr sz="900" b="1">
                <a:solidFill>
                  <a:srgbClr val="C03030"/>
                </a:solidFill>
                <a:latin typeface="Microsoft JhengHei"/>
              </a:rPr>
              <a:t>　- 測試模式: </a:t>
            </a:r>
            <a:r>
              <a:rPr sz="900" b="0">
                <a:solidFill>
                  <a:srgbClr val="202020"/>
                </a:solidFill>
                <a:latin typeface="Microsoft JhengHei"/>
              </a:rPr>
              <a:t>在 {2023-01-24} 這天,{TSLA} 的歷史動能(以過去 {3} 天的累積對數報酬率衡量)為 {7.476%}。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60520" y="4151376"/>
            <a:ext cx="7589520" cy="2331720"/>
          </a:xfrm>
          <a:prstGeom prst="roundRect">
            <a:avLst/>
          </a:prstGeom>
          <a:solidFill>
            <a:srgbClr val="E4DCF0"/>
          </a:solidFill>
          <a:ln w="12700">
            <a:solidFill>
              <a:srgbClr val="806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70248" y="4224528"/>
            <a:ext cx="7370064" cy="2185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202020"/>
                </a:solidFill>
                <a:latin typeface="Microsoft JhengHei"/>
              </a:rPr>
              <a:t>反思 (Reflect):</a:t>
            </a:r>
          </a:p>
          <a:p>
            <a:pPr algn="l">
              <a:lnSpc>
                <a:spcPct val="112000"/>
              </a:lnSpc>
            </a:pPr>
            <a:r>
              <a:rPr sz="900" b="1">
                <a:solidFill>
                  <a:srgbClr val="202020"/>
                </a:solidFill>
                <a:latin typeface="Microsoft JhengHei"/>
              </a:rPr>
              <a:t>範圍: </a:t>
            </a:r>
            <a:r>
              <a:rPr sz="900" b="0">
                <a:solidFill>
                  <a:srgbClr val="202020"/>
                </a:solidFill>
                <a:latin typeface="Microsoft JhengHei"/>
              </a:rPr>
              <a:t>從分層長期記憶檢索出的記憶事件、每日市場事實,以及延伸反思與即時反思之間的交互洞見</a:t>
            </a:r>
          </a:p>
          <a:p>
            <a:pPr algn="l">
              <a:lnSpc>
                <a:spcPct val="112000"/>
              </a:lnSpc>
            </a:pPr>
            <a:r>
              <a:rPr sz="900" b="1">
                <a:solidFill>
                  <a:srgbClr val="202020"/>
                </a:solidFill>
                <a:latin typeface="Microsoft JhengHei"/>
              </a:rPr>
              <a:t>提示詞:</a:t>
            </a:r>
          </a:p>
          <a:p>
            <a:pPr algn="l">
              <a:lnSpc>
                <a:spcPct val="112000"/>
              </a:lnSpc>
            </a:pPr>
            <a:r>
              <a:rPr sz="900" b="1">
                <a:solidFill>
                  <a:srgbClr val="C03030"/>
                </a:solidFill>
                <a:latin typeface="Microsoft JhengHei"/>
              </a:rPr>
              <a:t>　- 訓練模式: </a:t>
            </a:r>
            <a:r>
              <a:rPr sz="900" b="0">
                <a:solidFill>
                  <a:srgbClr val="202020"/>
                </a:solidFill>
                <a:latin typeface="Microsoft JhengHei"/>
              </a:rPr>
              <a:t>根據以下資訊,你能否解釋金融市場為什麼會從當天波動到隔天這樣的走勢?你需要提供摘要資訊,以及支持你摘要的資訊 ID。</a:t>
            </a:r>
          </a:p>
          <a:p>
            <a:pPr algn="l">
              <a:lnSpc>
                <a:spcPct val="112000"/>
              </a:lnSpc>
            </a:pPr>
            <a:r>
              <a:rPr sz="900" b="1">
                <a:solidFill>
                  <a:srgbClr val="C03030"/>
                </a:solidFill>
                <a:latin typeface="Microsoft JhengHei"/>
              </a:rPr>
              <a:t>　- 測試模式: </a:t>
            </a:r>
            <a:r>
              <a:rPr sz="900" b="0">
                <a:solidFill>
                  <a:srgbClr val="202020"/>
                </a:solidFill>
                <a:latin typeface="Microsoft JhengHei"/>
              </a:rPr>
              <a:t>根據這些資訊,你能否做出一項投資決策?請考慮短期、中期、長期資訊,以及反思資訊,也請考慮股價的動能。</a:t>
            </a:r>
          </a:p>
          <a:p>
            <a:pPr algn="l">
              <a:lnSpc>
                <a:spcPct val="112000"/>
              </a:lnSpc>
            </a:pPr>
            <a:r>
              <a:rPr sz="900" b="1">
                <a:solidFill>
                  <a:srgbClr val="C03030"/>
                </a:solidFill>
                <a:latin typeface="Microsoft JhengHei"/>
              </a:rPr>
              <a:t>　　{當累積報酬為正或零時,你是風險偏好型投資人……而當累積報酬為負時,你是風險趨避型投資人……}</a:t>
            </a:r>
          </a:p>
          <a:p>
            <a:pPr algn="l">
              <a:lnSpc>
                <a:spcPct val="112000"/>
              </a:lnSpc>
            </a:pPr>
            <a:r>
              <a:rPr sz="900" b="0">
                <a:solidFill>
                  <a:srgbClr val="202020"/>
                </a:solidFill>
                <a:latin typeface="Microsoft JhengHei"/>
              </a:rPr>
              <a:t>　　考量你目前身為投資人持有的股數,你應該只提供以下其中一項投資決策:買進或賣出。當難以判斷買賣時,可以選擇持有,並提供支持你決策的資訊 ID。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60520" y="6592824"/>
            <a:ext cx="7589520" cy="1325880"/>
          </a:xfrm>
          <a:prstGeom prst="roundRect">
            <a:avLst/>
          </a:prstGeom>
          <a:solidFill>
            <a:srgbClr val="FBF0C8"/>
          </a:solidFill>
          <a:ln w="12700">
            <a:solidFill>
              <a:srgbClr val="C0A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0248" y="6665976"/>
            <a:ext cx="7370064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02020"/>
                </a:solidFill>
                <a:latin typeface="Microsoft JhengHei"/>
              </a:rPr>
              <a:t>交易決策: </a:t>
            </a:r>
            <a:r>
              <a:rPr sz="1000" b="1">
                <a:solidFill>
                  <a:srgbClr val="C03030"/>
                </a:solidFill>
                <a:latin typeface="Microsoft JhengHei"/>
              </a:rPr>
              <a:t>買進。</a:t>
            </a:r>
          </a:p>
          <a:p>
            <a:pPr algn="l">
              <a:lnSpc>
                <a:spcPct val="115000"/>
              </a:lnSpc>
            </a:pPr>
            <a:r>
              <a:rPr sz="950" b="1">
                <a:solidFill>
                  <a:srgbClr val="202020"/>
                </a:solidFill>
                <a:latin typeface="Microsoft JhengHei"/>
              </a:rPr>
              <a:t>理由: </a:t>
            </a:r>
            <a:r>
              <a:rPr sz="950" b="0">
                <a:solidFill>
                  <a:srgbClr val="202020"/>
                </a:solidFill>
                <a:latin typeface="Microsoft JhengHei"/>
              </a:rPr>
              <a:t>根據淺層與中層記憶訊息,分析師認為目前的低價是買進機會(3357、3404)。深層記憶資訊顯示 Tesla 縮減產能是潛在風險(3417),但反思層的資訊顯示過去 10 年財務表現穩健(1)。此外,該投資人目前僅持有 1 股 TSLA,顯示加碼買進未來可能有不錯的報酬。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241280" y="246888"/>
            <a:ext cx="320040" cy="0"/>
          </a:xfrm>
          <a:prstGeom prst="line">
            <a:avLst/>
          </a:prstGeom>
          <a:ln w="279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652760" y="13716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0000"/>
                </a:solidFill>
                <a:latin typeface="Microsoft JhengHei"/>
              </a:rPr>
              <a:t>摘要 (Summarize)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241280" y="539496"/>
            <a:ext cx="320040" cy="0"/>
          </a:xfrm>
          <a:prstGeom prst="line">
            <a:avLst/>
          </a:prstGeom>
          <a:ln w="27940">
            <a:solidFill>
              <a:srgbClr val="C0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52760" y="4297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C03030"/>
                </a:solidFill>
                <a:latin typeface="Microsoft JhengHei"/>
              </a:rPr>
              <a:t>觀察 (Observe)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241280" y="832104"/>
            <a:ext cx="320040" cy="0"/>
          </a:xfrm>
          <a:prstGeom prst="line">
            <a:avLst/>
          </a:prstGeom>
          <a:ln w="27940">
            <a:solidFill>
              <a:srgbClr val="804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52760" y="722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040A0"/>
                </a:solidFill>
                <a:latin typeface="Microsoft JhengHei"/>
              </a:rPr>
              <a:t>反思 (Reflect)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241280" y="1124712"/>
            <a:ext cx="320040" cy="0"/>
          </a:xfrm>
          <a:prstGeom prst="line">
            <a:avLst/>
          </a:prstGeom>
          <a:ln w="27940">
            <a:solidFill>
              <a:srgbClr val="309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52760" y="101498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309040"/>
                </a:solidFill>
                <a:latin typeface="Microsoft JhengHei"/>
              </a:rPr>
              <a:t>檢索 (Retrieve)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241280" y="1417320"/>
            <a:ext cx="320040" cy="0"/>
          </a:xfrm>
          <a:prstGeom prst="line">
            <a:avLst/>
          </a:prstGeom>
          <a:ln w="27940">
            <a:solidFill>
              <a:srgbClr val="D09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652760" y="130759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09030"/>
                </a:solidFill>
                <a:latin typeface="Microsoft JhengHei"/>
              </a:rPr>
              <a:t>搬遷 (Transit)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137160"/>
            <a:ext cx="9784080" cy="1280160"/>
          </a:xfrm>
          <a:prstGeom prst="roundRect">
            <a:avLst/>
          </a:prstGeom>
          <a:noFill/>
          <a:ln w="12700">
            <a:solidFill>
              <a:srgbClr val="40404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164592"/>
            <a:ext cx="9784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02020"/>
                </a:solidFill>
                <a:latin typeface="Microsoft JhengHei"/>
              </a:rPr>
              <a:t>市場環境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8640"/>
            <a:ext cx="2148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626364"/>
            <a:ext cx="45720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707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1" y="711220"/>
            <a:ext cx="320040" cy="3712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1" y="785469"/>
            <a:ext cx="320040" cy="3712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3" y="997610"/>
            <a:ext cx="68580" cy="84856"/>
          </a:xfrm>
          <a:prstGeom prst="rect">
            <a:avLst/>
          </a:prstGeom>
          <a:solidFill>
            <a:srgbClr val="5A8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8669" y="933968"/>
            <a:ext cx="68580" cy="148498"/>
          </a:xfrm>
          <a:prstGeom prst="rect">
            <a:avLst/>
          </a:prstGeom>
          <a:solidFill>
            <a:srgbClr val="5A8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2396" y="870325"/>
            <a:ext cx="68580" cy="212140"/>
          </a:xfrm>
          <a:prstGeom prst="rect">
            <a:avLst/>
          </a:prstGeom>
          <a:solidFill>
            <a:srgbClr val="5A8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59" y="594808"/>
            <a:ext cx="274320" cy="90159"/>
          </a:xfrm>
          <a:prstGeom prst="rect">
            <a:avLst/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59" y="594808"/>
            <a:ext cx="274320" cy="901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FFFFFF"/>
                </a:solidFill>
                <a:latin typeface="Microsoft JhengHei"/>
              </a:rPr>
              <a:t>NEWS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548640"/>
            <a:ext cx="127101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02020"/>
                </a:solidFill>
                <a:latin typeface="Microsoft JhengHei"/>
              </a:rPr>
              <a:t>每日市場新聞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548640"/>
            <a:ext cx="2148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53512" y="626364"/>
            <a:ext cx="45720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707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22092" y="711220"/>
            <a:ext cx="320040" cy="3712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22092" y="785469"/>
            <a:ext cx="320040" cy="3712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26664" y="997610"/>
            <a:ext cx="68580" cy="84856"/>
          </a:xfrm>
          <a:prstGeom prst="rect">
            <a:avLst/>
          </a:prstGeom>
          <a:solidFill>
            <a:srgbClr val="5A8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0390" y="933968"/>
            <a:ext cx="68580" cy="148498"/>
          </a:xfrm>
          <a:prstGeom prst="rect">
            <a:avLst/>
          </a:prstGeom>
          <a:solidFill>
            <a:srgbClr val="5A8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14116" y="870325"/>
            <a:ext cx="68580" cy="212140"/>
          </a:xfrm>
          <a:prstGeom prst="rect">
            <a:avLst/>
          </a:prstGeom>
          <a:solidFill>
            <a:srgbClr val="5A8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75304" y="548640"/>
            <a:ext cx="127101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02020"/>
                </a:solidFill>
                <a:latin typeface="Microsoft JhengHei"/>
              </a:rPr>
              <a:t>公司 10-Q 報告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548640"/>
            <a:ext cx="2148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85231" y="626364"/>
            <a:ext cx="45720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707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53812" y="711220"/>
            <a:ext cx="320040" cy="3712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53812" y="785469"/>
            <a:ext cx="320040" cy="3712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58383" y="997610"/>
            <a:ext cx="68580" cy="84856"/>
          </a:xfrm>
          <a:prstGeom prst="rect">
            <a:avLst/>
          </a:prstGeom>
          <a:solidFill>
            <a:srgbClr val="5A8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52109" y="933968"/>
            <a:ext cx="68580" cy="148498"/>
          </a:xfrm>
          <a:prstGeom prst="rect">
            <a:avLst/>
          </a:prstGeom>
          <a:solidFill>
            <a:srgbClr val="5A8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45836" y="870325"/>
            <a:ext cx="68580" cy="212140"/>
          </a:xfrm>
          <a:prstGeom prst="rect">
            <a:avLst/>
          </a:prstGeom>
          <a:solidFill>
            <a:srgbClr val="5A8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07023" y="548640"/>
            <a:ext cx="127101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02020"/>
                </a:solidFill>
                <a:latin typeface="Microsoft JhengHei"/>
              </a:rPr>
              <a:t>公司 10-K 報告</a:t>
            </a:r>
          </a:p>
          <a:p>
            <a:pPr algn="l">
              <a:lnSpc>
                <a:spcPct val="105000"/>
              </a:lnSpc>
            </a:pPr>
            <a:r>
              <a:rPr sz="950" b="1">
                <a:solidFill>
                  <a:srgbClr val="202020"/>
                </a:solidFill>
                <a:latin typeface="Microsoft JhengHei"/>
              </a:rPr>
              <a:t>(年報)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52359" y="548640"/>
            <a:ext cx="2148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16951" y="626364"/>
            <a:ext cx="45720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707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680959" y="753648"/>
            <a:ext cx="329184" cy="233355"/>
          </a:xfrm>
          <a:custGeom>
            <a:avLst/>
            <a:gdLst/>
            <a:ahLst/>
            <a:cxnLst/>
            <a:rect l="l" t="t" r="r" b="b"/>
            <a:pathLst>
              <a:path w="329184" h="233355">
                <a:moveTo>
                  <a:pt x="0" y="233355"/>
                </a:moveTo>
                <a:lnTo>
                  <a:pt x="82296" y="116677"/>
                </a:lnTo>
                <a:lnTo>
                  <a:pt x="155448" y="180320"/>
                </a:lnTo>
                <a:lnTo>
                  <a:pt x="237744" y="0"/>
                </a:lnTo>
                <a:lnTo>
                  <a:pt x="329184" y="63642"/>
                </a:lnTo>
              </a:path>
            </a:pathLst>
          </a:custGeom>
          <a:noFill/>
          <a:ln w="25400">
            <a:solidFill>
              <a:srgbClr val="309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927774" y="658185"/>
            <a:ext cx="127284" cy="127284"/>
          </a:xfrm>
          <a:prstGeom prst="ellipse">
            <a:avLst/>
          </a:prstGeom>
          <a:solidFill>
            <a:srgbClr val="D9A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27774" y="636971"/>
            <a:ext cx="127284" cy="1272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JhengHei"/>
              </a:rPr>
              <a:t>$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38743" y="548640"/>
            <a:ext cx="127101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02020"/>
                </a:solidFill>
                <a:latin typeface="Microsoft JhengHei"/>
              </a:rPr>
              <a:t>每日股價</a:t>
            </a:r>
          </a:p>
        </p:txBody>
      </p:sp>
      <p:sp>
        <p:nvSpPr>
          <p:cNvPr id="46" name="Oval 45"/>
          <p:cNvSpPr/>
          <p:nvPr/>
        </p:nvSpPr>
        <p:spPr>
          <a:xfrm>
            <a:off x="137160" y="1783080"/>
            <a:ext cx="1417320" cy="868680"/>
          </a:xfrm>
          <a:prstGeom prst="ellipse">
            <a:avLst/>
          </a:prstGeom>
          <a:solidFill>
            <a:srgbClr val="E3D3F0"/>
          </a:solidFill>
          <a:ln w="12700">
            <a:solidFill>
              <a:srgbClr val="804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" y="1828800"/>
            <a:ext cx="1234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602090"/>
                </a:solidFill>
                <a:latin typeface="Microsoft JhengHei"/>
              </a:rPr>
              <a:t>觸發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02090"/>
                </a:solidFill>
                <a:latin typeface="Microsoft JhengHei"/>
              </a:rPr>
              <a:t>股票代號: TSLA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02090"/>
                </a:solidFill>
                <a:latin typeface="Microsoft JhengHei"/>
              </a:rPr>
              <a:t>交易日: 2023-01-24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28800" y="1783080"/>
            <a:ext cx="4846320" cy="1508760"/>
          </a:xfrm>
          <a:prstGeom prst="roundRect">
            <a:avLst/>
          </a:prstGeom>
          <a:noFill/>
          <a:ln w="12700">
            <a:solidFill>
              <a:srgbClr val="40404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28800" y="182880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02020"/>
                </a:solidFill>
                <a:latin typeface="Microsoft JhengHei"/>
              </a:rPr>
              <a:t>FinMem 的工作記憶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0" y="2103120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02020"/>
                </a:solidFill>
                <a:latin typeface="Microsoft JhengHei"/>
              </a:rPr>
              <a:t>操作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965960" y="2423160"/>
            <a:ext cx="1051560" cy="685800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1000" b="1">
                <a:solidFill>
                  <a:srgbClr val="202020"/>
                </a:solidFill>
                <a:latin typeface="Microsoft JhengHei"/>
              </a:rPr>
              <a:t>摘要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46120" y="2423160"/>
            <a:ext cx="1920240" cy="685800"/>
          </a:xfrm>
          <a:prstGeom prst="roundRect">
            <a:avLst/>
          </a:prstGeom>
          <a:solidFill>
            <a:srgbClr val="E4DCF0"/>
          </a:solidFill>
          <a:ln w="12700">
            <a:solidFill>
              <a:srgbClr val="804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850" b="1">
                <a:solidFill>
                  <a:srgbClr val="202020"/>
                </a:solidFill>
                <a:latin typeface="Microsoft JhengHei"/>
              </a:rPr>
              <a:t>即時反思          延伸反思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94960" y="2423160"/>
            <a:ext cx="1051560" cy="685800"/>
          </a:xfrm>
          <a:prstGeom prst="roundRect">
            <a:avLst/>
          </a:prstGeom>
          <a:solidFill>
            <a:srgbClr val="F6D9D9"/>
          </a:solidFill>
          <a:ln w="12700">
            <a:solidFill>
              <a:srgbClr val="B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1000" b="1">
                <a:solidFill>
                  <a:srgbClr val="202020"/>
                </a:solidFill>
                <a:latin typeface="Microsoft JhengHei"/>
              </a:rPr>
              <a:t>觀察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49640" y="1783080"/>
            <a:ext cx="3063240" cy="1600200"/>
          </a:xfrm>
          <a:prstGeom prst="roundRect">
            <a:avLst/>
          </a:prstGeom>
          <a:solidFill>
            <a:srgbClr val="E4DCF0"/>
          </a:solidFill>
          <a:ln w="12700">
            <a:solidFill>
              <a:srgbClr val="804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59367" y="1856231"/>
            <a:ext cx="2843784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602090"/>
                </a:solidFill>
                <a:latin typeface="Microsoft JhengHei"/>
              </a:rPr>
              <a:t>即時反思輸出:</a:t>
            </a:r>
          </a:p>
          <a:p>
            <a:pPr algn="l">
              <a:lnSpc>
                <a:spcPct val="120000"/>
              </a:lnSpc>
            </a:pPr>
            <a:r>
              <a:rPr sz="900" b="1">
                <a:solidFill>
                  <a:srgbClr val="602090"/>
                </a:solidFill>
                <a:latin typeface="Microsoft JhengHei"/>
              </a:rPr>
              <a:t>1) 代理人的投資決策:</a:t>
            </a:r>
            <a:r>
              <a:rPr sz="900" b="0">
                <a:solidFill>
                  <a:srgbClr val="602090"/>
                </a:solidFill>
                <a:latin typeface="Microsoft JhengHei"/>
              </a:rPr>
              <a:t>買進、賣出或持有?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602090"/>
                </a:solidFill>
                <a:latin typeface="Microsoft JhengHei"/>
              </a:rPr>
              <a:t>2) 累積報酬。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602090"/>
                </a:solidFill>
                <a:latin typeface="Microsoft JhengHei"/>
              </a:rPr>
              <a:t>3) 推理細節。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602090"/>
                </a:solidFill>
                <a:latin typeface="Microsoft JhengHei"/>
              </a:rPr>
              <a:t>4) 影響力最高的分層長期記憶 ID。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554480" y="2194560"/>
            <a:ext cx="274320" cy="0"/>
          </a:xfrm>
          <a:prstGeom prst="line">
            <a:avLst/>
          </a:prstGeom>
          <a:ln w="38100">
            <a:solidFill>
              <a:srgbClr val="8040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675120" y="2240280"/>
            <a:ext cx="1874520" cy="0"/>
          </a:xfrm>
          <a:prstGeom prst="line">
            <a:avLst/>
          </a:prstGeom>
          <a:ln w="22225">
            <a:solidFill>
              <a:srgbClr val="8040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508760" y="1417320"/>
            <a:ext cx="0" cy="18288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08760" y="1600200"/>
            <a:ext cx="960120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468880" y="1600200"/>
            <a:ext cx="0" cy="82296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549640" y="1417320"/>
            <a:ext cx="0" cy="1344168"/>
          </a:xfrm>
          <a:prstGeom prst="line">
            <a:avLst/>
          </a:prstGeom>
          <a:ln w="22225">
            <a:solidFill>
              <a:srgbClr val="C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6400800" y="2761488"/>
            <a:ext cx="2148840" cy="0"/>
          </a:xfrm>
          <a:prstGeom prst="line">
            <a:avLst/>
          </a:prstGeom>
          <a:ln w="22225">
            <a:solidFill>
              <a:srgbClr val="C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182880" y="3749039"/>
            <a:ext cx="11338560" cy="4206240"/>
          </a:xfrm>
          <a:prstGeom prst="roundRect">
            <a:avLst/>
          </a:prstGeom>
          <a:noFill/>
          <a:ln w="12700">
            <a:solidFill>
              <a:srgbClr val="40404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2880" y="7589519"/>
            <a:ext cx="11338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02020"/>
                </a:solidFill>
                <a:latin typeface="Microsoft JhengHei"/>
              </a:rPr>
              <a:t>分層長期記憶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4069079"/>
            <a:ext cx="3566160" cy="2148840"/>
          </a:xfrm>
          <a:prstGeom prst="roundRect">
            <a:avLst/>
          </a:prstGeom>
          <a:solidFill>
            <a:srgbClr val="D8E7F7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4133087"/>
            <a:ext cx="11887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2E6DA4"/>
                </a:solidFill>
                <a:latin typeface="Microsoft JhengHei"/>
              </a:rPr>
              <a:t>Top </a:t>
            </a:r>
            <a:r>
              <a:rPr i="1" sz="1100" b="1">
                <a:solidFill>
                  <a:srgbClr val="2E6DA4"/>
                </a:solidFill>
                <a:latin typeface="Times New Roman"/>
              </a:rPr>
              <a:t>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4407407"/>
            <a:ext cx="32918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i="1" sz="1100" b="1">
                <a:solidFill>
                  <a:srgbClr val="2E6DA4"/>
                </a:solidFill>
                <a:latin typeface="Times New Roman"/>
              </a:rPr>
              <a:t>Ratio</a:t>
            </a:r>
            <a:r>
              <a:rPr i="1" sz="800" baseline="30000">
                <a:solidFill>
                  <a:srgbClr val="2E6DA4"/>
                </a:solidFill>
                <a:latin typeface="Microsoft JhengHei"/>
              </a:rPr>
              <a:t>淺層</a:t>
            </a:r>
            <a:r>
              <a:rPr i="1" sz="800" baseline="-25000">
                <a:solidFill>
                  <a:srgbClr val="2E6DA4"/>
                </a:solidFill>
                <a:latin typeface="Microsoft JhengHei"/>
              </a:rPr>
              <a:t>衰減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4709159"/>
            <a:ext cx="32004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850" b="1">
                <a:solidFill>
                  <a:srgbClr val="202020"/>
                </a:solidFill>
                <a:latin typeface="Microsoft JhengHei"/>
              </a:rPr>
              <a:t>每日市場新聞洞見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5623559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02020"/>
                </a:solidFill>
                <a:latin typeface="Microsoft JhengHei"/>
              </a:rPr>
              <a:t>淺層處理層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434840" y="4069079"/>
            <a:ext cx="3566160" cy="2148840"/>
          </a:xfrm>
          <a:prstGeom prst="roundRect">
            <a:avLst/>
          </a:prstGeom>
          <a:solidFill>
            <a:srgbClr val="DCF0DC"/>
          </a:solidFill>
          <a:ln w="12700">
            <a:solidFill>
              <a:srgbClr val="309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0" y="4133087"/>
            <a:ext cx="11887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309040"/>
                </a:solidFill>
                <a:latin typeface="Microsoft JhengHei"/>
              </a:rPr>
              <a:t>Top </a:t>
            </a:r>
            <a:r>
              <a:rPr i="1" sz="1100" b="1">
                <a:solidFill>
                  <a:srgbClr val="309040"/>
                </a:solidFill>
                <a:latin typeface="Times New Roman"/>
              </a:rPr>
              <a:t>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0" y="4407407"/>
            <a:ext cx="32918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i="1" sz="1100" b="1">
                <a:solidFill>
                  <a:srgbClr val="309040"/>
                </a:solidFill>
                <a:latin typeface="Times New Roman"/>
              </a:rPr>
              <a:t>Ratio</a:t>
            </a:r>
            <a:r>
              <a:rPr i="1" sz="800" baseline="30000">
                <a:solidFill>
                  <a:srgbClr val="309040"/>
                </a:solidFill>
                <a:latin typeface="Microsoft JhengHei"/>
              </a:rPr>
              <a:t>中層</a:t>
            </a:r>
            <a:r>
              <a:rPr i="1" sz="800" baseline="-25000">
                <a:solidFill>
                  <a:srgbClr val="309040"/>
                </a:solidFill>
                <a:latin typeface="Microsoft JhengHei"/>
              </a:rPr>
              <a:t>衰減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617720" y="4709159"/>
            <a:ext cx="32004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850" b="1">
                <a:solidFill>
                  <a:srgbClr val="202020"/>
                </a:solidFill>
                <a:latin typeface="Microsoft JhengHei"/>
              </a:rPr>
              <a:t>公司 10-Q 報告洞見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34840" y="5623559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02020"/>
                </a:solidFill>
                <a:latin typeface="Microsoft JhengHei"/>
              </a:rPr>
              <a:t>中層處理層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321040" y="4069079"/>
            <a:ext cx="3566160" cy="2148840"/>
          </a:xfrm>
          <a:prstGeom prst="roundRect">
            <a:avLst/>
          </a:prstGeom>
          <a:solidFill>
            <a:srgbClr val="F5E3C8"/>
          </a:solidFill>
          <a:ln w="12700">
            <a:solidFill>
              <a:srgbClr val="B07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58200" y="4133087"/>
            <a:ext cx="11887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B07020"/>
                </a:solidFill>
                <a:latin typeface="Microsoft JhengHei"/>
              </a:rPr>
              <a:t>Top </a:t>
            </a:r>
            <a:r>
              <a:rPr i="1" sz="1100" b="1">
                <a:solidFill>
                  <a:srgbClr val="B07020"/>
                </a:solidFill>
                <a:latin typeface="Times New Roman"/>
              </a:rPr>
              <a:t>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58200" y="4407407"/>
            <a:ext cx="32918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i="1" sz="1100" b="1">
                <a:solidFill>
                  <a:srgbClr val="B07020"/>
                </a:solidFill>
                <a:latin typeface="Times New Roman"/>
              </a:rPr>
              <a:t>Ratio</a:t>
            </a:r>
            <a:r>
              <a:rPr i="1" sz="800" baseline="30000">
                <a:solidFill>
                  <a:srgbClr val="B07020"/>
                </a:solidFill>
                <a:latin typeface="Microsoft JhengHei"/>
              </a:rPr>
              <a:t>深層</a:t>
            </a:r>
            <a:r>
              <a:rPr i="1" sz="800" baseline="-25000">
                <a:solidFill>
                  <a:srgbClr val="B07020"/>
                </a:solidFill>
                <a:latin typeface="Microsoft JhengHei"/>
              </a:rPr>
              <a:t>衰減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503919" y="4709159"/>
            <a:ext cx="1554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850" b="1">
                <a:solidFill>
                  <a:srgbClr val="202020"/>
                </a:solidFill>
                <a:latin typeface="Microsoft JhengHei"/>
              </a:rPr>
              <a:t>延伸反思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149840" y="4709159"/>
            <a:ext cx="1554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850" b="1">
                <a:solidFill>
                  <a:srgbClr val="202020"/>
                </a:solidFill>
                <a:latin typeface="Microsoft JhengHei"/>
              </a:rPr>
              <a:t>公司 10-K 報告洞見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21040" y="5623559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02020"/>
                </a:solidFill>
                <a:latin typeface="Microsoft JhengHei"/>
              </a:rPr>
              <a:t>深層處理層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2331720" y="3108960"/>
            <a:ext cx="0" cy="960119"/>
          </a:xfrm>
          <a:prstGeom prst="line">
            <a:avLst/>
          </a:prstGeom>
          <a:ln w="19050">
            <a:solidFill>
              <a:srgbClr val="309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331720" y="3108960"/>
            <a:ext cx="1874520" cy="0"/>
          </a:xfrm>
          <a:prstGeom prst="line">
            <a:avLst/>
          </a:prstGeom>
          <a:ln w="19050">
            <a:solidFill>
              <a:srgbClr val="309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206240" y="3108960"/>
            <a:ext cx="0" cy="182879"/>
          </a:xfrm>
          <a:prstGeom prst="line">
            <a:avLst/>
          </a:prstGeom>
          <a:ln w="19050">
            <a:solidFill>
              <a:srgbClr val="309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263640" y="3291839"/>
            <a:ext cx="0" cy="777240"/>
          </a:xfrm>
          <a:prstGeom prst="line">
            <a:avLst/>
          </a:prstGeom>
          <a:ln w="19050">
            <a:solidFill>
              <a:srgbClr val="309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9646920" y="3474720"/>
            <a:ext cx="0" cy="594359"/>
          </a:xfrm>
          <a:prstGeom prst="line">
            <a:avLst/>
          </a:prstGeom>
          <a:ln w="19050">
            <a:solidFill>
              <a:srgbClr val="8040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6126480" y="3474720"/>
            <a:ext cx="3520440" cy="0"/>
          </a:xfrm>
          <a:prstGeom prst="line">
            <a:avLst/>
          </a:prstGeom>
          <a:ln w="19050">
            <a:solidFill>
              <a:srgbClr val="8040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126480" y="3291839"/>
            <a:ext cx="0" cy="182881"/>
          </a:xfrm>
          <a:prstGeom prst="line">
            <a:avLst/>
          </a:prstGeom>
          <a:ln w="19050">
            <a:solidFill>
              <a:srgbClr val="8040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114800" y="5120640"/>
            <a:ext cx="320040" cy="0"/>
          </a:xfrm>
          <a:prstGeom prst="line">
            <a:avLst/>
          </a:prstGeom>
          <a:ln w="19050">
            <a:solidFill>
              <a:srgbClr val="D09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3954780" y="4919472"/>
            <a:ext cx="6400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B07820"/>
                </a:solidFill>
                <a:latin typeface="Microsoft JhengHei"/>
              </a:rPr>
              <a:t>存取
計數器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8001000" y="5120640"/>
            <a:ext cx="320040" cy="0"/>
          </a:xfrm>
          <a:prstGeom prst="line">
            <a:avLst/>
          </a:prstGeom>
          <a:ln w="19050">
            <a:solidFill>
              <a:srgbClr val="D09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7840979" y="4919472"/>
            <a:ext cx="6400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B07820"/>
                </a:solidFill>
                <a:latin typeface="Microsoft JhengHei"/>
              </a:rPr>
              <a:t>存取
計數器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2331720" y="6217920"/>
            <a:ext cx="0" cy="365759"/>
          </a:xfrm>
          <a:prstGeom prst="line">
            <a:avLst/>
          </a:prstGeom>
          <a:ln w="19050">
            <a:solidFill>
              <a:srgbClr val="D09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263640" y="6217920"/>
            <a:ext cx="0" cy="365759"/>
          </a:xfrm>
          <a:prstGeom prst="line">
            <a:avLst/>
          </a:prstGeom>
          <a:ln w="19050">
            <a:solidFill>
              <a:srgbClr val="D09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646920" y="6217920"/>
            <a:ext cx="0" cy="365759"/>
          </a:xfrm>
          <a:prstGeom prst="line">
            <a:avLst/>
          </a:prstGeom>
          <a:ln w="19050">
            <a:solidFill>
              <a:srgbClr val="D09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331720" y="6583679"/>
            <a:ext cx="7315200" cy="0"/>
          </a:xfrm>
          <a:prstGeom prst="line">
            <a:avLst/>
          </a:prstGeom>
          <a:ln w="19050">
            <a:solidFill>
              <a:srgbClr val="D09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4846320" y="66294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D09030"/>
                </a:solidFill>
                <a:latin typeface="Microsoft JhengHei"/>
              </a:rPr>
              <a:t>存取計數器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020"/>
                </a:solidFill>
                <a:latin typeface="Microsoft JhengHei"/>
              </a:rPr>
              <a:t>LLMs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18872"/>
            <a:ext cx="201168" cy="201168"/>
          </a:xfrm>
          <a:prstGeom prst="ellipse">
            <a:avLst/>
          </a:prstGeom>
          <a:solidFill>
            <a:srgbClr val="609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" y="118872"/>
            <a:ext cx="201168" cy="201168"/>
          </a:xfrm>
          <a:prstGeom prst="ellipse">
            <a:avLst/>
          </a:prstGeom>
          <a:solidFill>
            <a:srgbClr val="60A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25880" y="118872"/>
            <a:ext cx="201168" cy="201168"/>
          </a:xfrm>
          <a:prstGeom prst="ellipse">
            <a:avLst/>
          </a:prstGeom>
          <a:solidFill>
            <a:srgbClr val="C09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91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020"/>
                </a:solidFill>
                <a:latin typeface="Microsoft JhengHei"/>
              </a:rPr>
              <a:t>股票代號: </a:t>
            </a:r>
            <a:r>
              <a:rPr sz="1200" b="0">
                <a:solidFill>
                  <a:srgbClr val="202020"/>
                </a:solidFill>
                <a:latin typeface="Microsoft JhengHei"/>
              </a:rPr>
              <a:t>TSLA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9144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020"/>
                </a:solidFill>
                <a:latin typeface="Microsoft JhengHei"/>
              </a:rPr>
              <a:t>目前日期: </a:t>
            </a:r>
            <a:r>
              <a:rPr sz="1200" b="0">
                <a:solidFill>
                  <a:srgbClr val="202020"/>
                </a:solidFill>
                <a:latin typeface="Microsoft JhengHei"/>
              </a:rPr>
              <a:t>2023-01-24</a:t>
            </a:r>
            <a:r>
              <a:rPr sz="1200" b="1">
                <a:solidFill>
                  <a:srgbClr val="202020"/>
                </a:solidFill>
                <a:latin typeface="Microsoft JhengHei"/>
              </a:rPr>
              <a:t>　　預測日期: </a:t>
            </a:r>
            <a:r>
              <a:rPr sz="1200" b="0">
                <a:solidFill>
                  <a:srgbClr val="202020"/>
                </a:solidFill>
                <a:latin typeface="Microsoft JhengHei"/>
              </a:rPr>
              <a:t>2022-01-25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" y="502920"/>
            <a:ext cx="11430000" cy="4160520"/>
          </a:xfrm>
          <a:prstGeom prst="roundRect">
            <a:avLst/>
          </a:prstGeom>
          <a:solidFill>
            <a:srgbClr val="F6F6F6"/>
          </a:solidFill>
          <a:ln w="12700">
            <a:solidFill>
              <a:srgbClr val="90909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594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020"/>
                </a:solidFill>
                <a:latin typeface="Microsoft JhengHei"/>
              </a:rPr>
              <a:t>FinMem 角色設定模組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960120"/>
            <a:ext cx="11064240" cy="1417320"/>
          </a:xfrm>
          <a:prstGeom prst="roundRect">
            <a:avLst/>
          </a:prstGeom>
          <a:solidFill>
            <a:srgbClr val="D9EAD9"/>
          </a:solidFill>
          <a:ln w="12700">
            <a:solidFill>
              <a:srgbClr val="409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0789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202020"/>
                </a:solidFill>
                <a:latin typeface="Microsoft JhengHei"/>
              </a:rPr>
              <a:t>生成背景知識: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202020"/>
                </a:solidFill>
                <a:latin typeface="Microsoft JhengHei"/>
              </a:rPr>
              <a:t>身為一名擁有豐富 {TSLA} 交易經驗的專業交易代理人。</a:t>
            </a:r>
          </a:p>
          <a:p>
            <a:pPr algn="l">
              <a:lnSpc>
                <a:spcPct val="115000"/>
              </a:lnSpc>
            </a:pPr>
            <a:r>
              <a:rPr sz="900" b="1">
                <a:solidFill>
                  <a:srgbClr val="202020"/>
                </a:solidFill>
                <a:latin typeface="Microsoft JhengHei"/>
              </a:rPr>
              <a:t>- 交易產業別: </a:t>
            </a:r>
            <a:r>
              <a:rPr sz="900" b="0">
                <a:solidFill>
                  <a:srgbClr val="202020"/>
                </a:solidFill>
                <a:latin typeface="Microsoft JhengHei"/>
              </a:rPr>
              <a:t>{Tesla, Inc.}({TSLA}) 主要營運於非必需消費品與電動車(EV)產業,細分類屬於汽車製造業。此分類反映 Tesla 的核心業務,包括電動車及相關產品與服務的設計、開發、製造與銷售……</a:t>
            </a:r>
          </a:p>
          <a:p>
            <a:pPr algn="l">
              <a:lnSpc>
                <a:spcPct val="115000"/>
              </a:lnSpc>
            </a:pPr>
            <a:r>
              <a:rPr sz="900" b="1">
                <a:solidFill>
                  <a:srgbClr val="202020"/>
                </a:solidFill>
                <a:latin typeface="Microsoft JhengHei"/>
              </a:rPr>
              <a:t>- 歷史財務表現總覽</a:t>
            </a:r>
            <a:r>
              <a:rPr sz="900" b="0">
                <a:solidFill>
                  <a:srgbClr val="202020"/>
                </a:solidFill>
                <a:latin typeface="Microsoft JhengHei"/>
              </a:rPr>
              <a:t>(測試期間之前): {Tesla Inc.} 的產品線已從各式車款,擴展至太陽能產品與儲能解決方案。主要營收來源仍是電動車部門,由 Model 3 與 Model Y 的成功帶動。過去幾年,Tesla 展現出可觀的成長……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4231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02020"/>
                </a:solidFill>
                <a:latin typeface="Microsoft JhengHe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788920"/>
            <a:ext cx="1106424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62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02020"/>
                </a:solidFill>
                <a:latin typeface="Microsoft JhengHei"/>
              </a:rPr>
              <a:t>選擇一種風險傾向: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00400"/>
            <a:ext cx="3566160" cy="365760"/>
          </a:xfrm>
          <a:prstGeom prst="roundRect">
            <a:avLst/>
          </a:prstGeom>
          <a:solidFill>
            <a:srgbClr val="F6D9D9"/>
          </a:solidFill>
          <a:ln w="12700">
            <a:solidFill>
              <a:srgbClr val="B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8134" y="3218687"/>
            <a:ext cx="117043" cy="117043"/>
          </a:xfrm>
          <a:prstGeom prst="ellipse">
            <a:avLst/>
          </a:prstGeom>
          <a:solidFill>
            <a:srgbClr val="B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rapezoid 16"/>
          <p:cNvSpPr/>
          <p:nvPr/>
        </p:nvSpPr>
        <p:spPr>
          <a:xfrm>
            <a:off x="556686" y="3314663"/>
            <a:ext cx="239938" cy="140451"/>
          </a:xfrm>
          <a:prstGeom prst="trapezoid">
            <a:avLst/>
          </a:prstGeom>
          <a:solidFill>
            <a:srgbClr val="B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00400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02020"/>
                </a:solidFill>
                <a:latin typeface="Microsoft JhengHei"/>
              </a:rPr>
              <a:t>風險偏好型交易代理人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66160"/>
            <a:ext cx="35661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0168"/>
            <a:ext cx="3383279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202020"/>
                </a:solidFill>
                <a:latin typeface="Microsoft JhengHei"/>
              </a:rPr>
              <a:t>人設: 身為風險偏好型交易代理人,你熱衷於高風險、高報酬的交易機會。你的策略大膽而明確:</a:t>
            </a:r>
          </a:p>
          <a:p>
            <a:pPr algn="l">
              <a:lnSpc>
                <a:spcPct val="110000"/>
              </a:lnSpc>
            </a:pPr>
            <a:r>
              <a:rPr sz="800" b="0">
                <a:solidFill>
                  <a:srgbClr val="202020"/>
                </a:solidFill>
                <a:latin typeface="Microsoft JhengHei"/>
              </a:rPr>
              <a:t>- 追求可觀的獲利機會,即使須承擔顯著的不確定性。</a:t>
            </a:r>
          </a:p>
          <a:p>
            <a:pPr algn="l">
              <a:lnSpc>
                <a:spcPct val="110000"/>
              </a:lnSpc>
            </a:pPr>
            <a:r>
              <a:rPr sz="800" b="0">
                <a:solidFill>
                  <a:srgbClr val="202020"/>
                </a:solidFill>
                <a:latin typeface="Microsoft JhengHei"/>
              </a:rPr>
              <a:t>- 鎖定 {TSLA} 這類波動大的投資標的,風險與潛在報酬同樣高。</a:t>
            </a:r>
          </a:p>
          <a:p>
            <a:pPr algn="l">
              <a:lnSpc>
                <a:spcPct val="110000"/>
              </a:lnSpc>
            </a:pPr>
            <a:r>
              <a:rPr sz="800" b="0">
                <a:solidFill>
                  <a:srgbClr val="202020"/>
                </a:solidFill>
                <a:latin typeface="Microsoft JhengHei"/>
              </a:rPr>
              <a:t>- 接受可能的重大虧損,視為追求超額報酬的入場代價。</a:t>
            </a:r>
          </a:p>
          <a:p>
            <a:pPr algn="l">
              <a:lnSpc>
                <a:spcPct val="110000"/>
              </a:lnSpc>
            </a:pPr>
            <a:r>
              <a:rPr sz="800" b="0">
                <a:solidFill>
                  <a:srgbClr val="202020"/>
                </a:solidFill>
                <a:latin typeface="Microsoft JhengHei"/>
              </a:rPr>
              <a:t>你的交易風格積極進取,專注於運用風險博取股票的超額報酬。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00400"/>
            <a:ext cx="3566160" cy="365760"/>
          </a:xfrm>
          <a:prstGeom prst="roundRect">
            <a:avLst/>
          </a:prstGeom>
          <a:solidFill>
            <a:srgbClr val="E4DCF0"/>
          </a:solidFill>
          <a:ln w="12700">
            <a:solidFill>
              <a:srgbClr val="804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21454" y="3218687"/>
            <a:ext cx="117043" cy="117043"/>
          </a:xfrm>
          <a:prstGeom prst="ellipse">
            <a:avLst/>
          </a:prstGeom>
          <a:solidFill>
            <a:srgbClr val="804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rapezoid 22"/>
          <p:cNvSpPr/>
          <p:nvPr/>
        </p:nvSpPr>
        <p:spPr>
          <a:xfrm>
            <a:off x="4260006" y="3314663"/>
            <a:ext cx="239938" cy="140451"/>
          </a:xfrm>
          <a:prstGeom prst="trapezoid">
            <a:avLst/>
          </a:prstGeom>
          <a:solidFill>
            <a:srgbClr val="804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200400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02020"/>
                </a:solidFill>
                <a:latin typeface="Microsoft JhengHei"/>
              </a:rPr>
              <a:t>自適應人設交易代理人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3566160"/>
            <a:ext cx="35661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04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59" y="3630168"/>
            <a:ext cx="3383279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202020"/>
                </a:solidFill>
                <a:latin typeface="Microsoft JhengHei"/>
              </a:rPr>
              <a:t>人設: 你可以依以下條件切換風險偏好:</a:t>
            </a:r>
          </a:p>
          <a:p>
            <a:pPr algn="l">
              <a:lnSpc>
                <a:spcPct val="110000"/>
              </a:lnSpc>
            </a:pPr>
            <a:r>
              <a:rPr sz="800" b="0">
                <a:solidFill>
                  <a:srgbClr val="202020"/>
                </a:solidFill>
                <a:latin typeface="Microsoft JhengHei"/>
              </a:rPr>
              <a:t>當累積報酬為正或零時,你是風險偏好型投資人……</a:t>
            </a:r>
          </a:p>
          <a:p>
            <a:pPr algn="l">
              <a:lnSpc>
                <a:spcPct val="110000"/>
              </a:lnSpc>
            </a:pPr>
            <a:r>
              <a:rPr sz="800" b="0">
                <a:solidFill>
                  <a:srgbClr val="202020"/>
                </a:solidFill>
                <a:latin typeface="Microsoft JhengHei"/>
              </a:rPr>
              <a:t>但當累積報酬為負時,你是風險趨避型投資人……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3200400"/>
            <a:ext cx="3566160" cy="365760"/>
          </a:xfrm>
          <a:prstGeom prst="roundRect">
            <a:avLst/>
          </a:prstGeom>
          <a:solidFill>
            <a:srgbClr val="D8E7F7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24774" y="3218687"/>
            <a:ext cx="117043" cy="117043"/>
          </a:xfrm>
          <a:prstGeom prst="ellipse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rapezoid 28"/>
          <p:cNvSpPr/>
          <p:nvPr/>
        </p:nvSpPr>
        <p:spPr>
          <a:xfrm>
            <a:off x="7963326" y="3314663"/>
            <a:ext cx="239938" cy="140451"/>
          </a:xfrm>
          <a:prstGeom prst="trapezoid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200400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02020"/>
                </a:solidFill>
                <a:latin typeface="Microsoft JhengHei"/>
              </a:rPr>
              <a:t>風險趨避型交易代理人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3566160"/>
            <a:ext cx="35661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3630168"/>
            <a:ext cx="3383279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202020"/>
                </a:solidFill>
                <a:latin typeface="Microsoft JhengHei"/>
              </a:rPr>
              <a:t>人設: 身為風險趨避型交易代理人,你重視交易中的穩定性與穩健成長,專注於:</a:t>
            </a:r>
          </a:p>
          <a:p>
            <a:pPr algn="l">
              <a:lnSpc>
                <a:spcPct val="110000"/>
              </a:lnSpc>
            </a:pPr>
            <a:r>
              <a:rPr sz="800" b="0">
                <a:solidFill>
                  <a:srgbClr val="202020"/>
                </a:solidFill>
                <a:latin typeface="Microsoft JhengHei"/>
              </a:rPr>
              <a:t>- 選擇低波動、報酬可預期的投資標的。</a:t>
            </a:r>
          </a:p>
          <a:p>
            <a:pPr algn="l">
              <a:lnSpc>
                <a:spcPct val="110000"/>
              </a:lnSpc>
            </a:pPr>
            <a:r>
              <a:rPr sz="800" b="0">
                <a:solidFill>
                  <a:srgbClr val="202020"/>
                </a:solidFill>
                <a:latin typeface="Microsoft JhengHei"/>
              </a:rPr>
              <a:t>- 選擇像 {TSLA} 這樣表現穩定的成熟股票。</a:t>
            </a:r>
          </a:p>
          <a:p>
            <a:pPr algn="l">
              <a:lnSpc>
                <a:spcPct val="110000"/>
              </a:lnSpc>
            </a:pPr>
            <a:r>
              <a:rPr sz="800" b="0">
                <a:solidFill>
                  <a:srgbClr val="202020"/>
                </a:solidFill>
                <a:latin typeface="Microsoft JhengHei"/>
              </a:rPr>
              <a:t>- 重視漸進、可靠的獲利,勝過高但不確定的報酬機會。</a:t>
            </a:r>
          </a:p>
          <a:p>
            <a:pPr algn="l">
              <a:lnSpc>
                <a:spcPct val="110000"/>
              </a:lnSpc>
            </a:pPr>
            <a:r>
              <a:rPr sz="800" b="0">
                <a:solidFill>
                  <a:srgbClr val="202020"/>
                </a:solidFill>
                <a:latin typeface="Microsoft JhengHei"/>
              </a:rPr>
              <a:t>你保守的交易風格著重於降低風險,並為長期增值保全資本。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943600" y="4892040"/>
            <a:ext cx="0" cy="548639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011680" y="4892040"/>
            <a:ext cx="7863840" cy="1737360"/>
          </a:xfrm>
          <a:prstGeom prst="roundRect">
            <a:avLst/>
          </a:prstGeom>
          <a:solidFill>
            <a:srgbClr val="FBF0C8"/>
          </a:solidFill>
          <a:ln w="12700">
            <a:solidFill>
              <a:srgbClr val="C0A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4983479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02020"/>
                </a:solidFill>
                <a:latin typeface="Microsoft JhengHei"/>
              </a:rPr>
              <a:t>重要記憶事件範例: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5394959"/>
            <a:ext cx="457200" cy="340156"/>
          </a:xfrm>
          <a:prstGeom prst="rect">
            <a:avLst/>
          </a:prstGeom>
          <a:solidFill>
            <a:srgbClr val="FFFFFF"/>
          </a:solidFill>
          <a:ln w="13970">
            <a:solidFill>
              <a:srgbClr val="707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77440" y="5735116"/>
            <a:ext cx="91440" cy="65836"/>
          </a:xfrm>
          <a:prstGeom prst="rect">
            <a:avLst/>
          </a:prstGeom>
          <a:solidFill>
            <a:srgbClr val="909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95144" y="5811926"/>
            <a:ext cx="256032" cy="43891"/>
          </a:xfrm>
          <a:prstGeom prst="rect">
            <a:avLst/>
          </a:prstGeom>
          <a:solidFill>
            <a:srgbClr val="909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446568" y="5529925"/>
            <a:ext cx="241401" cy="241401"/>
          </a:xfrm>
          <a:prstGeom prst="ellipse">
            <a:avLst/>
          </a:prstGeom>
          <a:solidFill>
            <a:srgbClr val="D9A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46568" y="5525097"/>
            <a:ext cx="241401" cy="2414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$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5303520"/>
            <a:ext cx="68122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3060C0"/>
                </a:solidFill>
                <a:latin typeface="Microsoft JhengHei"/>
              </a:rPr>
              <a:t>- (ID: 3357) </a:t>
            </a:r>
            <a:r>
              <a:rPr sz="850" b="0">
                <a:solidFill>
                  <a:srgbClr val="202020"/>
                </a:solidFill>
                <a:latin typeface="Microsoft JhengHei"/>
              </a:rPr>
              <a:t>Tesla 兩個月內市值蒸發 5000 億美元被視為買進機會:分析師看好上看 100% 的漲幅,Tesla 股價正經歷低潮,引發散戶投資人的焦慮……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3060C0"/>
                </a:solidFill>
                <a:latin typeface="Microsoft JhengHei"/>
              </a:rPr>
              <a:t>- (ID: 3404) </a:t>
            </a:r>
            <a:r>
              <a:rPr sz="850" b="0">
                <a:solidFill>
                  <a:srgbClr val="202020"/>
                </a:solidFill>
                <a:latin typeface="Microsoft JhengHei"/>
              </a:rPr>
              <a:t>Tesla 向美國買家提供折扣:如何用更便宜的價格入手 Model 3 或 Model Y,若趕在新年前購車,價格可能更划算……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3060C0"/>
                </a:solidFill>
                <a:latin typeface="Microsoft JhengHei"/>
              </a:rPr>
              <a:t>- (ID: 3417) </a:t>
            </a:r>
            <a:r>
              <a:rPr sz="850" b="0">
                <a:solidFill>
                  <a:srgbClr val="202020"/>
                </a:solidFill>
                <a:latin typeface="Microsoft JhengHei"/>
              </a:rPr>
              <a:t>Elon Musk 喊出「史詩級」Q4 目標恐生變:傳 Tesla 12 月將中國產 Model Y 產能縮減 20%……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3060C0"/>
                </a:solidFill>
                <a:latin typeface="Microsoft JhengHei"/>
              </a:rPr>
              <a:t>- (ID: 1) </a:t>
            </a:r>
            <a:r>
              <a:rPr sz="850" b="0">
                <a:solidFill>
                  <a:srgbClr val="202020"/>
                </a:solidFill>
                <a:latin typeface="Microsoft JhengHei"/>
              </a:rPr>
              <a:t>綜合以上資訊,Tesla 展現出穩健的財務表現,營收顯著成長。儘管 2022 年第四季出現淨虧損,公司營收仍年增 89%,主要由交車量增加所帶動……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43600" y="6629400"/>
            <a:ext cx="0" cy="13716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37160" y="6766560"/>
            <a:ext cx="11430000" cy="1508760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2E6DA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8397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020"/>
                </a:solidFill>
                <a:latin typeface="Microsoft JhengHei"/>
              </a:rPr>
              <a:t>FinMem 交易決策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7132320"/>
            <a:ext cx="3657600" cy="320040"/>
          </a:xfrm>
          <a:prstGeom prst="roundRect">
            <a:avLst/>
          </a:prstGeom>
          <a:solidFill>
            <a:srgbClr val="F6D9D9"/>
          </a:solidFill>
          <a:ln w="12700">
            <a:solidFill>
              <a:srgbClr val="B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900" b="1">
                <a:solidFill>
                  <a:srgbClr val="202020"/>
                </a:solidFill>
                <a:latin typeface="Microsoft JhengHei"/>
              </a:rPr>
              <a:t>風險偏好型交易代理人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7452360"/>
            <a:ext cx="3657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7498080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02020"/>
                </a:solidFill>
                <a:latin typeface="Microsoft JhengHei"/>
              </a:rPr>
              <a:t>交易決策: </a:t>
            </a:r>
            <a:r>
              <a:rPr sz="850" b="1">
                <a:solidFill>
                  <a:srgbClr val="C03030"/>
                </a:solidFill>
                <a:latin typeface="Microsoft JhengHei"/>
              </a:rPr>
              <a:t>買進</a:t>
            </a:r>
          </a:p>
          <a:p>
            <a:pPr algn="l">
              <a:lnSpc>
                <a:spcPct val="105000"/>
              </a:lnSpc>
            </a:pPr>
            <a:r>
              <a:rPr sz="700" b="0">
                <a:solidFill>
                  <a:srgbClr val="202020"/>
                </a:solidFill>
                <a:latin typeface="Microsoft JhengHei"/>
              </a:rPr>
              <a:t>投資理由: 儘管深層記憶訊息(3417)帶有負面情緒,但股價展現正向動能,加上淺層與中層記憶訊息(3357、3404)偏向樂觀,顯示未來有獲利潛力。身為風險偏好型投資人,這樣的訊息組合足以構成買進的有力理由。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23359" y="7132320"/>
            <a:ext cx="3657600" cy="320040"/>
          </a:xfrm>
          <a:prstGeom prst="roundRect">
            <a:avLst/>
          </a:prstGeom>
          <a:solidFill>
            <a:srgbClr val="E4DCF0"/>
          </a:solidFill>
          <a:ln w="12700">
            <a:solidFill>
              <a:srgbClr val="804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900" b="1">
                <a:solidFill>
                  <a:srgbClr val="202020"/>
                </a:solidFill>
                <a:latin typeface="Microsoft JhengHei"/>
              </a:rPr>
              <a:t>自適應人設交易代理人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023359" y="7452360"/>
            <a:ext cx="3657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04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799" y="7498080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02020"/>
                </a:solidFill>
                <a:latin typeface="Microsoft JhengHei"/>
              </a:rPr>
              <a:t>交易決策: </a:t>
            </a:r>
            <a:r>
              <a:rPr sz="850" b="1">
                <a:solidFill>
                  <a:srgbClr val="C03030"/>
                </a:solidFill>
                <a:latin typeface="Microsoft JhengHei"/>
              </a:rPr>
              <a:t>買進</a:t>
            </a:r>
          </a:p>
          <a:p>
            <a:pPr algn="l">
              <a:lnSpc>
                <a:spcPct val="105000"/>
              </a:lnSpc>
            </a:pPr>
            <a:r>
              <a:rPr sz="700" b="0">
                <a:solidFill>
                  <a:srgbClr val="202020"/>
                </a:solidFill>
                <a:latin typeface="Microsoft JhengHei"/>
              </a:rPr>
              <a:t>投資理由: 根據淺層與中層記憶訊息,分析師認為目前的低價是買進機會(3357、3404)。深層記憶資訊顯示 Tesla 縮減產能是潛在風險(3417),但反思層資訊顯示過去 10 年財務表現穩健(1)。此外,投資人目前僅持有 1 股 TSLA,加碼買進未來可能有不錯的報酬。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0" y="7132320"/>
            <a:ext cx="3657600" cy="320040"/>
          </a:xfrm>
          <a:prstGeom prst="roundRect">
            <a:avLst/>
          </a:prstGeom>
          <a:solidFill>
            <a:srgbClr val="D8E7F7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900" b="1">
                <a:solidFill>
                  <a:srgbClr val="202020"/>
                </a:solidFill>
                <a:latin typeface="Microsoft JhengHei"/>
              </a:rPr>
              <a:t>風險趨避型交易代理人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0" y="7452360"/>
            <a:ext cx="3657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3840" y="7498080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02020"/>
                </a:solidFill>
                <a:latin typeface="Microsoft JhengHei"/>
              </a:rPr>
              <a:t>交易決策: </a:t>
            </a:r>
            <a:r>
              <a:rPr sz="850" b="1">
                <a:solidFill>
                  <a:srgbClr val="C03030"/>
                </a:solidFill>
                <a:latin typeface="Microsoft JhengHei"/>
              </a:rPr>
              <a:t>持有</a:t>
            </a:r>
          </a:p>
          <a:p>
            <a:pPr algn="l">
              <a:lnSpc>
                <a:spcPct val="105000"/>
              </a:lnSpc>
            </a:pPr>
            <a:r>
              <a:rPr sz="700" b="0">
                <a:solidFill>
                  <a:srgbClr val="202020"/>
                </a:solidFill>
                <a:latin typeface="Microsoft JhengHei"/>
              </a:rPr>
              <a:t>投資理由: Tesla 的記憶訊息呈現混合訊號(3357、3404、3417),例如市值大幅下滑帶來的潛在買進機會,以及中國產能面臨的挑戰,使我決定維持觀望。公司財務表現穩健,即便有淨虧損但營收仍成長,顯示出穩定性,符合保守的投資策略。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